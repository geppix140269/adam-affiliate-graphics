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143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deck as an affiliate conversation tool. The goal is not to teach every feature, but to help affiliates explain specific trade problems and ask for the right next step: register through the partner link or book a focused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buyer’s problems. Affiliates should avoid leading with feature lists. Ask which of the four risks is costing the prospect time, money, or confidence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is intentionally specific. Say what it is, who it helps, and what decisions it supports. This avoids vague “AI platform” language.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pre-transaction use case. Position ADAMftd as a way to reduce blind trust and improve due diligence before commercial 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Affiliates should frame discovery as prioritisation. The value is not a list; it is knowing where to spend attention first.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reviews are useful when the prospect is unsure where to focus. Position them as a way to avoid wasted outreach and reduce market-entry guesswork.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margin-protection use case. Keep expectations clear: ADAMftd supports analysis and decision-making; it is not a guarantee of future price movements or official customs treatment.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call structure. Affiliates should ask one question per use case and listen for urgency. The moment they find pain, they should stop presenting and offer a relevant next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demos short. The goal is not to show everything; it is to make one problem concrete and get the prospect to use the partner link.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offer slide. Affiliates should add their full partner code and link. The full code should be visually prominent in any localized version.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overclaiming. It is important for affiliates to stay credible and compliant when speaking to corporate or institutional prospects.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action and attribution. The primary target is still the end user, while the sub-affiliate invitation remains secondary and controlled.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B34"/>
        </a:solidFill>
        <a:effectLst/>
      </p:bgPr>
    </p:bg>
    <p:spTree>
      <p:nvGrpSpPr>
        <p:cNvPr id="1" name=""/>
        <p:cNvGrpSpPr/>
        <p:nvPr/>
      </p:nvGrpSpPr>
      <p:grpSpPr>
        <a:xfrm>
          <a:off x="0" y="0"/>
          <a:ext cx="0" cy="0"/>
          <a:chOff x="0" y="0"/>
          <a:chExt cx="0" cy="0"/>
        </a:xfrm>
      </p:grpSpPr>
      <p:sp>
        <p:nvSpPr>
          <p:cNvPr id="3" name="Text 0"/>
          <p:cNvSpPr/>
          <p:nvPr/>
        </p:nvSpPr>
        <p:spPr>
          <a:xfrm>
            <a:off x="640080" y="1444752"/>
            <a:ext cx="5669280" cy="438912"/>
          </a:xfrm>
          <a:prstGeom prst="rect">
            <a:avLst/>
          </a:prstGeom>
          <a:noFill/>
          <a:ln/>
        </p:spPr>
        <p:txBody>
          <a:bodyPr wrap="square" lIns="0" tIns="0" rIns="0" bIns="0" rtlCol="0" anchor="ctr"/>
          <a:lstStyle/>
          <a:p>
            <a:pPr marL="0" indent="0">
              <a:buNone/>
            </a:pPr>
            <a:r>
              <a:rPr lang="en-US" sz="2000" b="1" dirty="0">
                <a:solidFill>
                  <a:srgbClr val="00A99D"/>
                </a:solidFill>
                <a:latin typeface="Aptos" pitchFamily="34" charset="0"/>
                <a:ea typeface="Aptos" pitchFamily="34" charset="-122"/>
                <a:cs typeface="Aptos" pitchFamily="34" charset="-120"/>
              </a:rPr>
              <a:t>Affiliate Sales Playbook</a:t>
            </a:r>
            <a:endParaRPr lang="en-US" sz="2000" dirty="0"/>
          </a:p>
        </p:txBody>
      </p:sp>
      <p:sp>
        <p:nvSpPr>
          <p:cNvPr id="4" name="Text 1"/>
          <p:cNvSpPr/>
          <p:nvPr/>
        </p:nvSpPr>
        <p:spPr>
          <a:xfrm>
            <a:off x="621792" y="1956816"/>
            <a:ext cx="6035040" cy="1097280"/>
          </a:xfrm>
          <a:prstGeom prst="rect">
            <a:avLst/>
          </a:prstGeom>
          <a:noFill/>
          <a:ln/>
        </p:spPr>
        <p:txBody>
          <a:bodyPr wrap="square" lIns="0" tIns="0" rIns="0" bIns="0" rtlCol="0" anchor="ctr">
            <a:normAutofit/>
          </a:bodyPr>
          <a:lstStyle/>
          <a:p>
            <a:pPr marL="0" indent="0">
              <a:buNone/>
            </a:pPr>
            <a:r>
              <a:rPr lang="en-US" sz="3900" b="1" dirty="0">
                <a:solidFill>
                  <a:srgbClr val="FFFFFF"/>
                </a:solidFill>
                <a:latin typeface="Aptos Display" pitchFamily="34" charset="0"/>
                <a:ea typeface="Aptos Display" pitchFamily="34" charset="-122"/>
                <a:cs typeface="Aptos Display" pitchFamily="34" charset="-120"/>
              </a:rPr>
              <a:t>Turning trade uncertainty into qualified referrals</a:t>
            </a:r>
            <a:endParaRPr lang="en-US" sz="3900" dirty="0"/>
          </a:p>
        </p:txBody>
      </p:sp>
      <p:sp>
        <p:nvSpPr>
          <p:cNvPr id="5" name="Text 2"/>
          <p:cNvSpPr/>
          <p:nvPr/>
        </p:nvSpPr>
        <p:spPr>
          <a:xfrm>
            <a:off x="658368" y="3273552"/>
            <a:ext cx="6583680" cy="566928"/>
          </a:xfrm>
          <a:prstGeom prst="rect">
            <a:avLst/>
          </a:prstGeom>
          <a:noFill/>
          <a:ln/>
        </p:spPr>
        <p:txBody>
          <a:bodyPr wrap="square" lIns="254" tIns="254" rIns="254" bIns="254" rtlCol="0" anchor="ctr"/>
          <a:lstStyle/>
          <a:p>
            <a:pPr marL="0" indent="0">
              <a:buNone/>
            </a:pPr>
            <a:r>
              <a:rPr lang="en-US" sz="1520" dirty="0">
                <a:solidFill>
                  <a:srgbClr val="D9EAF4"/>
                </a:solidFill>
                <a:latin typeface="Aptos" pitchFamily="34" charset="0"/>
                <a:ea typeface="Aptos" pitchFamily="34" charset="-122"/>
                <a:cs typeface="Aptos" pitchFamily="34" charset="-120"/>
              </a:rPr>
              <a:t>A practical deck for positioning ADAMftd around supplier and buyer verification, counterparty discovery, market analysis, and price/tariff volatility.</a:t>
            </a:r>
            <a:endParaRPr lang="en-US" sz="1520" dirty="0"/>
          </a:p>
        </p:txBody>
      </p:sp>
      <p:sp>
        <p:nvSpPr>
          <p:cNvPr id="6" name="Shape 3"/>
          <p:cNvSpPr/>
          <p:nvPr/>
        </p:nvSpPr>
        <p:spPr>
          <a:xfrm>
            <a:off x="7498080" y="1143000"/>
            <a:ext cx="3840480" cy="4114800"/>
          </a:xfrm>
          <a:prstGeom prst="roundRect">
            <a:avLst>
              <a:gd name="adj" fmla="val 3810"/>
            </a:avLst>
          </a:prstGeom>
          <a:solidFill>
            <a:srgbClr val="082B52"/>
          </a:solidFill>
          <a:ln w="12700">
            <a:solidFill>
              <a:srgbClr val="255273"/>
            </a:solidFill>
            <a:prstDash val="solid"/>
          </a:ln>
        </p:spPr>
        <p:txBody>
          <a:bodyPr/>
          <a:lstStyle/>
          <a:p>
            <a:endParaRPr lang="en-GB"/>
          </a:p>
        </p:txBody>
      </p:sp>
      <p:sp>
        <p:nvSpPr>
          <p:cNvPr id="7" name="Shape 4"/>
          <p:cNvSpPr/>
          <p:nvPr/>
        </p:nvSpPr>
        <p:spPr>
          <a:xfrm>
            <a:off x="7909560" y="1508760"/>
            <a:ext cx="530352" cy="530352"/>
          </a:xfrm>
          <a:prstGeom prst="ellipse">
            <a:avLst/>
          </a:prstGeom>
          <a:solidFill>
            <a:srgbClr val="061B34"/>
          </a:solidFill>
          <a:ln w="17780">
            <a:solidFill>
              <a:srgbClr val="00A99D"/>
            </a:solidFill>
            <a:prstDash val="solid"/>
          </a:ln>
        </p:spPr>
        <p:txBody>
          <a:bodyPr/>
          <a:lstStyle/>
          <a:p>
            <a:endParaRPr lang="en-GB"/>
          </a:p>
        </p:txBody>
      </p:sp>
      <p:sp>
        <p:nvSpPr>
          <p:cNvPr id="8" name="Text 5"/>
          <p:cNvSpPr/>
          <p:nvPr/>
        </p:nvSpPr>
        <p:spPr>
          <a:xfrm>
            <a:off x="7909560" y="1609344"/>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a:t>
            </a:r>
            <a:endParaRPr lang="en-US" sz="1800" dirty="0"/>
          </a:p>
        </p:txBody>
      </p:sp>
      <p:sp>
        <p:nvSpPr>
          <p:cNvPr id="9" name="Text 6"/>
          <p:cNvSpPr/>
          <p:nvPr/>
        </p:nvSpPr>
        <p:spPr>
          <a:xfrm>
            <a:off x="8641080" y="1572768"/>
            <a:ext cx="2011680" cy="20116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Verify</a:t>
            </a:r>
            <a:endParaRPr lang="en-US" sz="2200" dirty="0"/>
          </a:p>
        </p:txBody>
      </p:sp>
      <p:sp>
        <p:nvSpPr>
          <p:cNvPr id="10" name="Shape 7"/>
          <p:cNvSpPr/>
          <p:nvPr/>
        </p:nvSpPr>
        <p:spPr>
          <a:xfrm>
            <a:off x="7909560" y="2331720"/>
            <a:ext cx="530352" cy="530352"/>
          </a:xfrm>
          <a:prstGeom prst="ellipse">
            <a:avLst/>
          </a:prstGeom>
          <a:solidFill>
            <a:srgbClr val="061B34"/>
          </a:solidFill>
          <a:ln w="17780">
            <a:solidFill>
              <a:srgbClr val="33D7D2"/>
            </a:solidFill>
            <a:prstDash val="solid"/>
          </a:ln>
        </p:spPr>
        <p:txBody>
          <a:bodyPr/>
          <a:lstStyle/>
          <a:p>
            <a:endParaRPr lang="en-GB"/>
          </a:p>
        </p:txBody>
      </p:sp>
      <p:sp>
        <p:nvSpPr>
          <p:cNvPr id="11" name="Text 8"/>
          <p:cNvSpPr/>
          <p:nvPr/>
        </p:nvSpPr>
        <p:spPr>
          <a:xfrm>
            <a:off x="7909560" y="2432304"/>
            <a:ext cx="530352" cy="228600"/>
          </a:xfrm>
          <a:prstGeom prst="rect">
            <a:avLst/>
          </a:prstGeom>
          <a:noFill/>
          <a:ln/>
        </p:spPr>
        <p:txBody>
          <a:bodyPr wrap="square" lIns="0" tIns="0" rIns="0" bIns="0" rtlCol="0" anchor="ctr"/>
          <a:lstStyle/>
          <a:p>
            <a:pPr marL="0" indent="0" algn="ctr">
              <a:buNone/>
            </a:pPr>
            <a:r>
              <a:rPr lang="en-US" sz="1800" b="1" dirty="0">
                <a:solidFill>
                  <a:srgbClr val="33D7D2"/>
                </a:solidFill>
                <a:latin typeface="Aptos Display" pitchFamily="34" charset="0"/>
                <a:ea typeface="Aptos Display" pitchFamily="34" charset="-122"/>
                <a:cs typeface="Aptos Display" pitchFamily="34" charset="-120"/>
              </a:rPr>
              <a:t>→</a:t>
            </a:r>
            <a:endParaRPr lang="en-US" sz="1800" dirty="0"/>
          </a:p>
        </p:txBody>
      </p:sp>
      <p:sp>
        <p:nvSpPr>
          <p:cNvPr id="12" name="Text 9"/>
          <p:cNvSpPr/>
          <p:nvPr/>
        </p:nvSpPr>
        <p:spPr>
          <a:xfrm>
            <a:off x="8641080" y="2395728"/>
            <a:ext cx="2011680" cy="20116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Discover</a:t>
            </a:r>
            <a:endParaRPr lang="en-US" sz="2200" dirty="0"/>
          </a:p>
        </p:txBody>
      </p:sp>
      <p:sp>
        <p:nvSpPr>
          <p:cNvPr id="13" name="Shape 10"/>
          <p:cNvSpPr/>
          <p:nvPr/>
        </p:nvSpPr>
        <p:spPr>
          <a:xfrm>
            <a:off x="7909560" y="3154680"/>
            <a:ext cx="530352" cy="530352"/>
          </a:xfrm>
          <a:prstGeom prst="ellipse">
            <a:avLst/>
          </a:prstGeom>
          <a:solidFill>
            <a:srgbClr val="061B34"/>
          </a:solidFill>
          <a:ln w="17780">
            <a:solidFill>
              <a:srgbClr val="F59E0B"/>
            </a:solidFill>
            <a:prstDash val="solid"/>
          </a:ln>
        </p:spPr>
        <p:txBody>
          <a:bodyPr/>
          <a:lstStyle/>
          <a:p>
            <a:endParaRPr lang="en-GB"/>
          </a:p>
        </p:txBody>
      </p:sp>
      <p:sp>
        <p:nvSpPr>
          <p:cNvPr id="14" name="Text 11"/>
          <p:cNvSpPr/>
          <p:nvPr/>
        </p:nvSpPr>
        <p:spPr>
          <a:xfrm>
            <a:off x="7909560" y="3255264"/>
            <a:ext cx="530352" cy="228600"/>
          </a:xfrm>
          <a:prstGeom prst="rect">
            <a:avLst/>
          </a:prstGeom>
          <a:noFill/>
          <a:ln/>
        </p:spPr>
        <p:txBody>
          <a:bodyPr wrap="square" lIns="0" tIns="0" rIns="0" bIns="0" rtlCol="0" anchor="ctr"/>
          <a:lstStyle/>
          <a:p>
            <a:pPr marL="0" indent="0" algn="ctr">
              <a:buNone/>
            </a:pPr>
            <a:r>
              <a:rPr lang="en-US" sz="1800" b="1" dirty="0">
                <a:solidFill>
                  <a:srgbClr val="F59E0B"/>
                </a:solidFill>
                <a:latin typeface="Aptos Display" pitchFamily="34" charset="0"/>
                <a:ea typeface="Aptos Display" pitchFamily="34" charset="-122"/>
                <a:cs typeface="Aptos Display" pitchFamily="34" charset="-120"/>
              </a:rPr>
              <a:t>◎</a:t>
            </a:r>
            <a:endParaRPr lang="en-US" sz="1800" dirty="0"/>
          </a:p>
        </p:txBody>
      </p:sp>
      <p:sp>
        <p:nvSpPr>
          <p:cNvPr id="15" name="Text 12"/>
          <p:cNvSpPr/>
          <p:nvPr/>
        </p:nvSpPr>
        <p:spPr>
          <a:xfrm>
            <a:off x="8641080" y="3218688"/>
            <a:ext cx="2011680" cy="20116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Analyze</a:t>
            </a:r>
            <a:endParaRPr lang="en-US" sz="2200" dirty="0"/>
          </a:p>
        </p:txBody>
      </p:sp>
      <p:sp>
        <p:nvSpPr>
          <p:cNvPr id="16" name="Shape 13"/>
          <p:cNvSpPr/>
          <p:nvPr/>
        </p:nvSpPr>
        <p:spPr>
          <a:xfrm>
            <a:off x="7909560" y="3977640"/>
            <a:ext cx="530352" cy="530352"/>
          </a:xfrm>
          <a:prstGeom prst="ellipse">
            <a:avLst/>
          </a:prstGeom>
          <a:solidFill>
            <a:srgbClr val="061B34"/>
          </a:solidFill>
          <a:ln w="17780">
            <a:solidFill>
              <a:srgbClr val="22C55E"/>
            </a:solidFill>
            <a:prstDash val="solid"/>
          </a:ln>
        </p:spPr>
        <p:txBody>
          <a:bodyPr/>
          <a:lstStyle/>
          <a:p>
            <a:endParaRPr lang="en-GB"/>
          </a:p>
        </p:txBody>
      </p:sp>
      <p:sp>
        <p:nvSpPr>
          <p:cNvPr id="17" name="Text 14"/>
          <p:cNvSpPr/>
          <p:nvPr/>
        </p:nvSpPr>
        <p:spPr>
          <a:xfrm>
            <a:off x="7909560" y="4078224"/>
            <a:ext cx="530352" cy="228600"/>
          </a:xfrm>
          <a:prstGeom prst="rect">
            <a:avLst/>
          </a:prstGeom>
          <a:noFill/>
          <a:ln/>
        </p:spPr>
        <p:txBody>
          <a:bodyPr wrap="square" lIns="0" tIns="0" rIns="0" bIns="0" rtlCol="0" anchor="ctr"/>
          <a:lstStyle/>
          <a:p>
            <a:pPr marL="0" indent="0" algn="ctr">
              <a:buNone/>
            </a:pPr>
            <a:r>
              <a:rPr lang="en-US" sz="1800" b="1" dirty="0">
                <a:solidFill>
                  <a:srgbClr val="22C55E"/>
                </a:solidFill>
                <a:latin typeface="Aptos Display" pitchFamily="34" charset="0"/>
                <a:ea typeface="Aptos Display" pitchFamily="34" charset="-122"/>
                <a:cs typeface="Aptos Display" pitchFamily="34" charset="-120"/>
              </a:rPr>
              <a:t>↗</a:t>
            </a:r>
            <a:endParaRPr lang="en-US" sz="1800" dirty="0"/>
          </a:p>
        </p:txBody>
      </p:sp>
      <p:sp>
        <p:nvSpPr>
          <p:cNvPr id="18" name="Text 15"/>
          <p:cNvSpPr/>
          <p:nvPr/>
        </p:nvSpPr>
        <p:spPr>
          <a:xfrm>
            <a:off x="8641080" y="4041648"/>
            <a:ext cx="2011680" cy="201168"/>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Act</a:t>
            </a:r>
            <a:endParaRPr lang="en-US" sz="2200" dirty="0"/>
          </a:p>
        </p:txBody>
      </p:sp>
      <p:sp>
        <p:nvSpPr>
          <p:cNvPr id="19" name="Text 16"/>
          <p:cNvSpPr/>
          <p:nvPr/>
        </p:nvSpPr>
        <p:spPr>
          <a:xfrm>
            <a:off x="7909560" y="4754880"/>
            <a:ext cx="3017520" cy="292608"/>
          </a:xfrm>
          <a:prstGeom prst="rect">
            <a:avLst/>
          </a:prstGeom>
          <a:noFill/>
          <a:ln/>
        </p:spPr>
        <p:txBody>
          <a:bodyPr wrap="square" lIns="0" tIns="0" rIns="0" bIns="0" rtlCol="0" anchor="ctr"/>
          <a:lstStyle/>
          <a:p>
            <a:pPr marL="0" indent="0">
              <a:buNone/>
            </a:pPr>
            <a:r>
              <a:rPr lang="en-US" sz="1100" dirty="0">
                <a:solidFill>
                  <a:srgbClr val="BBD4E6"/>
                </a:solidFill>
                <a:latin typeface="Aptos" pitchFamily="34" charset="0"/>
                <a:ea typeface="Aptos" pitchFamily="34" charset="-122"/>
                <a:cs typeface="Aptos" pitchFamily="34" charset="-120"/>
              </a:rPr>
              <a:t>Independent partner material · Customize with your referral link and code</a:t>
            </a:r>
            <a:endParaRPr lang="en-US" sz="1100" dirty="0"/>
          </a:p>
        </p:txBody>
      </p:sp>
      <p:sp>
        <p:nvSpPr>
          <p:cNvPr id="20" name="Text 17"/>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D9EAF4"/>
                </a:solidFill>
                <a:latin typeface="Aptos" pitchFamily="34" charset="0"/>
                <a:ea typeface="Aptos" pitchFamily="34" charset="-122"/>
                <a:cs typeface="Aptos" pitchFamily="34" charset="-120"/>
              </a:rPr>
              <a:t>ADAMftd Affiliate Kit · ADAMftd.com</a:t>
            </a:r>
            <a:endParaRPr lang="en-US" sz="850" dirty="0"/>
          </a:p>
        </p:txBody>
      </p:sp>
      <p:sp>
        <p:nvSpPr>
          <p:cNvPr id="21" name="Text 18"/>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D9EAF4"/>
                </a:solidFill>
                <a:latin typeface="Aptos" pitchFamily="34" charset="0"/>
                <a:ea typeface="Aptos" pitchFamily="34" charset="-122"/>
                <a:cs typeface="Aptos" pitchFamily="34" charset="-120"/>
              </a:rPr>
              <a:t>Use your full partner link/code for attribution</a:t>
            </a:r>
            <a:endParaRPr lang="en-US" sz="850" dirty="0"/>
          </a:p>
        </p:txBody>
      </p:sp>
      <p:pic>
        <p:nvPicPr>
          <p:cNvPr id="23" name="Picture 22">
            <a:extLst>
              <a:ext uri="{FF2B5EF4-FFF2-40B4-BE49-F238E27FC236}">
                <a16:creationId xmlns:a16="http://schemas.microsoft.com/office/drawing/2014/main" id="{5DDD820E-D3A7-73B0-A5E2-B2BD2815FD0C}"/>
              </a:ext>
            </a:extLst>
          </p:cNvPr>
          <p:cNvPicPr>
            <a:picLocks noChangeAspect="1"/>
          </p:cNvPicPr>
          <p:nvPr/>
        </p:nvPicPr>
        <p:blipFill>
          <a:blip r:embed="rId3"/>
          <a:stretch>
            <a:fillRect/>
          </a:stretch>
        </p:blipFill>
        <p:spPr>
          <a:xfrm>
            <a:off x="570016" y="286988"/>
            <a:ext cx="1337952" cy="1003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The four problems affiliates can sell around</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64748B"/>
                </a:solidFill>
                <a:latin typeface="Aptos" pitchFamily="34" charset="0"/>
                <a:ea typeface="Aptos" pitchFamily="34" charset="-122"/>
                <a:cs typeface="Aptos" pitchFamily="34" charset="-120"/>
              </a:rPr>
              <a:t>Companies rarely buy “data.” They buy confidence before making decisions.</a:t>
            </a:r>
            <a:endParaRPr lang="en-US" sz="1180" dirty="0"/>
          </a:p>
        </p:txBody>
      </p:sp>
      <p:sp>
        <p:nvSpPr>
          <p:cNvPr id="4" name="Shape 2"/>
          <p:cNvSpPr/>
          <p:nvPr/>
        </p:nvSpPr>
        <p:spPr>
          <a:xfrm>
            <a:off x="594360" y="1481328"/>
            <a:ext cx="5074920" cy="1572768"/>
          </a:xfrm>
          <a:prstGeom prst="roundRect">
            <a:avLst>
              <a:gd name="adj" fmla="val 8721"/>
            </a:avLst>
          </a:prstGeom>
          <a:solidFill>
            <a:srgbClr val="FFFFFF"/>
          </a:solidFill>
          <a:ln w="12700">
            <a:solidFill>
              <a:srgbClr val="D8E4EE"/>
            </a:solidFill>
            <a:prstDash val="solid"/>
          </a:ln>
        </p:spPr>
        <p:txBody>
          <a:bodyPr/>
          <a:lstStyle/>
          <a:p>
            <a:endParaRPr lang="en-GB"/>
          </a:p>
        </p:txBody>
      </p:sp>
      <p:sp>
        <p:nvSpPr>
          <p:cNvPr id="5" name="Shape 3"/>
          <p:cNvSpPr/>
          <p:nvPr/>
        </p:nvSpPr>
        <p:spPr>
          <a:xfrm>
            <a:off x="886968" y="1865376"/>
            <a:ext cx="530352" cy="530352"/>
          </a:xfrm>
          <a:prstGeom prst="ellipse">
            <a:avLst/>
          </a:prstGeom>
          <a:solidFill>
            <a:srgbClr val="E9FBF8"/>
          </a:solidFill>
          <a:ln w="17780">
            <a:solidFill>
              <a:srgbClr val="00A99D"/>
            </a:solidFill>
            <a:prstDash val="solid"/>
          </a:ln>
        </p:spPr>
        <p:txBody>
          <a:bodyPr/>
          <a:lstStyle/>
          <a:p>
            <a:endParaRPr lang="en-GB"/>
          </a:p>
        </p:txBody>
      </p:sp>
      <p:sp>
        <p:nvSpPr>
          <p:cNvPr id="6" name="Text 4"/>
          <p:cNvSpPr/>
          <p:nvPr/>
        </p:nvSpPr>
        <p:spPr>
          <a:xfrm>
            <a:off x="886968" y="1965960"/>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a:t>
            </a:r>
            <a:endParaRPr lang="en-US" sz="1800" dirty="0"/>
          </a:p>
        </p:txBody>
      </p:sp>
      <p:sp>
        <p:nvSpPr>
          <p:cNvPr id="7" name="Text 5"/>
          <p:cNvSpPr/>
          <p:nvPr/>
        </p:nvSpPr>
        <p:spPr>
          <a:xfrm>
            <a:off x="1600200" y="1828800"/>
            <a:ext cx="3703320" cy="246888"/>
          </a:xfrm>
          <a:prstGeom prst="rect">
            <a:avLst/>
          </a:prstGeom>
          <a:noFill/>
          <a:ln/>
        </p:spPr>
        <p:txBody>
          <a:bodyPr wrap="square" lIns="0" tIns="0" rIns="0" bIns="0" rtlCol="0" anchor="ctr"/>
          <a:lstStyle/>
          <a:p>
            <a:pPr marL="0" indent="0">
              <a:buNone/>
            </a:pPr>
            <a:r>
              <a:rPr lang="en-US" sz="1900" b="1" dirty="0">
                <a:solidFill>
                  <a:srgbClr val="0B1F33"/>
                </a:solidFill>
                <a:latin typeface="Aptos Display" pitchFamily="34" charset="0"/>
                <a:ea typeface="Aptos Display" pitchFamily="34" charset="-122"/>
                <a:cs typeface="Aptos Display" pitchFamily="34" charset="-120"/>
              </a:rPr>
              <a:t>Supplier / Buyer verification</a:t>
            </a:r>
            <a:endParaRPr lang="en-US" sz="1900" dirty="0"/>
          </a:p>
        </p:txBody>
      </p:sp>
      <p:sp>
        <p:nvSpPr>
          <p:cNvPr id="8" name="Text 6"/>
          <p:cNvSpPr/>
          <p:nvPr/>
        </p:nvSpPr>
        <p:spPr>
          <a:xfrm>
            <a:off x="1618488" y="2212848"/>
            <a:ext cx="3657600" cy="384048"/>
          </a:xfrm>
          <a:prstGeom prst="rect">
            <a:avLst/>
          </a:prstGeom>
          <a:noFill/>
          <a:ln/>
        </p:spPr>
        <p:txBody>
          <a:bodyPr wrap="square" lIns="127" tIns="127" rIns="127" bIns="127" rtlCol="0" anchor="ctr">
            <a:normAutofit/>
          </a:bodyPr>
          <a:lstStyle/>
          <a:p>
            <a:pPr marL="0" indent="0">
              <a:buNone/>
            </a:pPr>
            <a:r>
              <a:rPr lang="en-US" sz="1280" dirty="0">
                <a:solidFill>
                  <a:srgbClr val="64748B"/>
                </a:solidFill>
                <a:latin typeface="Aptos" pitchFamily="34" charset="0"/>
                <a:ea typeface="Aptos" pitchFamily="34" charset="-122"/>
                <a:cs typeface="Aptos" pitchFamily="34" charset="-120"/>
              </a:rPr>
              <a:t>Can I trust this company, shipment history, and commercial signal?</a:t>
            </a:r>
            <a:endParaRPr lang="en-US" sz="1280" dirty="0"/>
          </a:p>
        </p:txBody>
      </p:sp>
      <p:sp>
        <p:nvSpPr>
          <p:cNvPr id="9" name="Shape 7"/>
          <p:cNvSpPr/>
          <p:nvPr/>
        </p:nvSpPr>
        <p:spPr>
          <a:xfrm>
            <a:off x="6080760" y="1481328"/>
            <a:ext cx="5074920" cy="1572768"/>
          </a:xfrm>
          <a:prstGeom prst="roundRect">
            <a:avLst>
              <a:gd name="adj" fmla="val 8721"/>
            </a:avLst>
          </a:prstGeom>
          <a:solidFill>
            <a:srgbClr val="FFFFFF"/>
          </a:solidFill>
          <a:ln w="12700">
            <a:solidFill>
              <a:srgbClr val="D8E4EE"/>
            </a:solidFill>
            <a:prstDash val="solid"/>
          </a:ln>
        </p:spPr>
        <p:txBody>
          <a:bodyPr/>
          <a:lstStyle/>
          <a:p>
            <a:endParaRPr lang="en-GB"/>
          </a:p>
        </p:txBody>
      </p:sp>
      <p:sp>
        <p:nvSpPr>
          <p:cNvPr id="10" name="Shape 8"/>
          <p:cNvSpPr/>
          <p:nvPr/>
        </p:nvSpPr>
        <p:spPr>
          <a:xfrm>
            <a:off x="6373368" y="1865376"/>
            <a:ext cx="530352" cy="530352"/>
          </a:xfrm>
          <a:prstGeom prst="ellipse">
            <a:avLst/>
          </a:prstGeom>
          <a:solidFill>
            <a:srgbClr val="E9FBF8"/>
          </a:solidFill>
          <a:ln w="17780">
            <a:solidFill>
              <a:srgbClr val="F59E0B"/>
            </a:solidFill>
            <a:prstDash val="solid"/>
          </a:ln>
        </p:spPr>
        <p:txBody>
          <a:bodyPr/>
          <a:lstStyle/>
          <a:p>
            <a:endParaRPr lang="en-GB"/>
          </a:p>
        </p:txBody>
      </p:sp>
      <p:sp>
        <p:nvSpPr>
          <p:cNvPr id="11" name="Text 9"/>
          <p:cNvSpPr/>
          <p:nvPr/>
        </p:nvSpPr>
        <p:spPr>
          <a:xfrm>
            <a:off x="6373368" y="1965960"/>
            <a:ext cx="530352" cy="228600"/>
          </a:xfrm>
          <a:prstGeom prst="rect">
            <a:avLst/>
          </a:prstGeom>
          <a:noFill/>
          <a:ln/>
        </p:spPr>
        <p:txBody>
          <a:bodyPr wrap="square" lIns="0" tIns="0" rIns="0" bIns="0" rtlCol="0" anchor="ctr"/>
          <a:lstStyle/>
          <a:p>
            <a:pPr marL="0" indent="0" algn="ctr">
              <a:buNone/>
            </a:pPr>
            <a:r>
              <a:rPr lang="en-US" sz="1800" b="1" dirty="0">
                <a:solidFill>
                  <a:srgbClr val="F59E0B"/>
                </a:solidFill>
                <a:latin typeface="Aptos Display" pitchFamily="34" charset="0"/>
                <a:ea typeface="Aptos Display" pitchFamily="34" charset="-122"/>
                <a:cs typeface="Aptos Display" pitchFamily="34" charset="-120"/>
              </a:rPr>
              <a:t>◆</a:t>
            </a:r>
            <a:endParaRPr lang="en-US" sz="1800" dirty="0"/>
          </a:p>
        </p:txBody>
      </p:sp>
      <p:sp>
        <p:nvSpPr>
          <p:cNvPr id="12" name="Text 10"/>
          <p:cNvSpPr/>
          <p:nvPr/>
        </p:nvSpPr>
        <p:spPr>
          <a:xfrm>
            <a:off x="7086600" y="1828800"/>
            <a:ext cx="3703320" cy="246888"/>
          </a:xfrm>
          <a:prstGeom prst="rect">
            <a:avLst/>
          </a:prstGeom>
          <a:noFill/>
          <a:ln/>
        </p:spPr>
        <p:txBody>
          <a:bodyPr wrap="square" lIns="0" tIns="0" rIns="0" bIns="0" rtlCol="0" anchor="ctr"/>
          <a:lstStyle/>
          <a:p>
            <a:pPr marL="0" indent="0">
              <a:buNone/>
            </a:pPr>
            <a:r>
              <a:rPr lang="en-US" sz="1900" b="1" dirty="0">
                <a:solidFill>
                  <a:srgbClr val="0B1F33"/>
                </a:solidFill>
                <a:latin typeface="Aptos Display" pitchFamily="34" charset="0"/>
                <a:ea typeface="Aptos Display" pitchFamily="34" charset="-122"/>
                <a:cs typeface="Aptos Display" pitchFamily="34" charset="-120"/>
              </a:rPr>
              <a:t>Reliable counterparty discovery</a:t>
            </a:r>
            <a:endParaRPr lang="en-US" sz="1900" dirty="0"/>
          </a:p>
        </p:txBody>
      </p:sp>
      <p:sp>
        <p:nvSpPr>
          <p:cNvPr id="13" name="Text 11"/>
          <p:cNvSpPr/>
          <p:nvPr/>
        </p:nvSpPr>
        <p:spPr>
          <a:xfrm>
            <a:off x="7104888" y="2212848"/>
            <a:ext cx="3657600" cy="384048"/>
          </a:xfrm>
          <a:prstGeom prst="rect">
            <a:avLst/>
          </a:prstGeom>
          <a:noFill/>
          <a:ln/>
        </p:spPr>
        <p:txBody>
          <a:bodyPr wrap="square" lIns="127" tIns="127" rIns="127" bIns="127" rtlCol="0" anchor="ctr">
            <a:normAutofit/>
          </a:bodyPr>
          <a:lstStyle/>
          <a:p>
            <a:pPr marL="0" indent="0">
              <a:buNone/>
            </a:pPr>
            <a:r>
              <a:rPr lang="en-US" sz="1280" dirty="0">
                <a:solidFill>
                  <a:srgbClr val="64748B"/>
                </a:solidFill>
                <a:latin typeface="Aptos" pitchFamily="34" charset="0"/>
                <a:ea typeface="Aptos" pitchFamily="34" charset="-122"/>
                <a:cs typeface="Aptos" pitchFamily="34" charset="-120"/>
              </a:rPr>
              <a:t>Who should I approach, and why are they likely to be relevant?</a:t>
            </a:r>
            <a:endParaRPr lang="en-US" sz="1280" dirty="0"/>
          </a:p>
        </p:txBody>
      </p:sp>
      <p:sp>
        <p:nvSpPr>
          <p:cNvPr id="14" name="Shape 12"/>
          <p:cNvSpPr/>
          <p:nvPr/>
        </p:nvSpPr>
        <p:spPr>
          <a:xfrm>
            <a:off x="594360" y="3538728"/>
            <a:ext cx="5074920" cy="1572768"/>
          </a:xfrm>
          <a:prstGeom prst="roundRect">
            <a:avLst>
              <a:gd name="adj" fmla="val 8721"/>
            </a:avLst>
          </a:prstGeom>
          <a:solidFill>
            <a:srgbClr val="FFFFFF"/>
          </a:solidFill>
          <a:ln w="12700">
            <a:solidFill>
              <a:srgbClr val="D8E4EE"/>
            </a:solidFill>
            <a:prstDash val="solid"/>
          </a:ln>
        </p:spPr>
        <p:txBody>
          <a:bodyPr/>
          <a:lstStyle/>
          <a:p>
            <a:endParaRPr lang="en-GB"/>
          </a:p>
        </p:txBody>
      </p:sp>
      <p:sp>
        <p:nvSpPr>
          <p:cNvPr id="15" name="Shape 13"/>
          <p:cNvSpPr/>
          <p:nvPr/>
        </p:nvSpPr>
        <p:spPr>
          <a:xfrm>
            <a:off x="886968" y="3922776"/>
            <a:ext cx="530352" cy="530352"/>
          </a:xfrm>
          <a:prstGeom prst="ellipse">
            <a:avLst/>
          </a:prstGeom>
          <a:solidFill>
            <a:srgbClr val="E9FBF8"/>
          </a:solidFill>
          <a:ln w="17780">
            <a:solidFill>
              <a:srgbClr val="00A99D"/>
            </a:solidFill>
            <a:prstDash val="solid"/>
          </a:ln>
        </p:spPr>
        <p:txBody>
          <a:bodyPr/>
          <a:lstStyle/>
          <a:p>
            <a:endParaRPr lang="en-GB"/>
          </a:p>
        </p:txBody>
      </p:sp>
      <p:sp>
        <p:nvSpPr>
          <p:cNvPr id="16" name="Text 14"/>
          <p:cNvSpPr/>
          <p:nvPr/>
        </p:nvSpPr>
        <p:spPr>
          <a:xfrm>
            <a:off x="886968" y="4023360"/>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a:t>
            </a:r>
            <a:endParaRPr lang="en-US" sz="1800" dirty="0"/>
          </a:p>
        </p:txBody>
      </p:sp>
      <p:sp>
        <p:nvSpPr>
          <p:cNvPr id="17" name="Text 15"/>
          <p:cNvSpPr/>
          <p:nvPr/>
        </p:nvSpPr>
        <p:spPr>
          <a:xfrm>
            <a:off x="1600200" y="3886200"/>
            <a:ext cx="3703320" cy="246888"/>
          </a:xfrm>
          <a:prstGeom prst="rect">
            <a:avLst/>
          </a:prstGeom>
          <a:noFill/>
          <a:ln/>
        </p:spPr>
        <p:txBody>
          <a:bodyPr wrap="square" lIns="0" tIns="0" rIns="0" bIns="0" rtlCol="0" anchor="ctr"/>
          <a:lstStyle/>
          <a:p>
            <a:pPr marL="0" indent="0">
              <a:buNone/>
            </a:pPr>
            <a:r>
              <a:rPr lang="en-US" sz="1900" b="1" dirty="0">
                <a:solidFill>
                  <a:srgbClr val="0B1F33"/>
                </a:solidFill>
                <a:latin typeface="Aptos Display" pitchFamily="34" charset="0"/>
                <a:ea typeface="Aptos Display" pitchFamily="34" charset="-122"/>
                <a:cs typeface="Aptos Display" pitchFamily="34" charset="-120"/>
              </a:rPr>
              <a:t>Market reviews and analysis</a:t>
            </a:r>
            <a:endParaRPr lang="en-US" sz="1900" dirty="0"/>
          </a:p>
        </p:txBody>
      </p:sp>
      <p:sp>
        <p:nvSpPr>
          <p:cNvPr id="18" name="Text 16"/>
          <p:cNvSpPr/>
          <p:nvPr/>
        </p:nvSpPr>
        <p:spPr>
          <a:xfrm>
            <a:off x="1618488" y="4270248"/>
            <a:ext cx="3657600" cy="384048"/>
          </a:xfrm>
          <a:prstGeom prst="rect">
            <a:avLst/>
          </a:prstGeom>
          <a:noFill/>
          <a:ln/>
        </p:spPr>
        <p:txBody>
          <a:bodyPr wrap="square" lIns="127" tIns="127" rIns="127" bIns="127" rtlCol="0" anchor="ctr">
            <a:normAutofit/>
          </a:bodyPr>
          <a:lstStyle/>
          <a:p>
            <a:pPr marL="0" indent="0">
              <a:buNone/>
            </a:pPr>
            <a:r>
              <a:rPr lang="en-US" sz="1280" dirty="0">
                <a:solidFill>
                  <a:srgbClr val="64748B"/>
                </a:solidFill>
                <a:latin typeface="Aptos" pitchFamily="34" charset="0"/>
                <a:ea typeface="Aptos" pitchFamily="34" charset="-122"/>
                <a:cs typeface="Aptos" pitchFamily="34" charset="-120"/>
              </a:rPr>
              <a:t>Which country, segment, product or route deserves attention?</a:t>
            </a:r>
            <a:endParaRPr lang="en-US" sz="1280" dirty="0"/>
          </a:p>
        </p:txBody>
      </p:sp>
      <p:sp>
        <p:nvSpPr>
          <p:cNvPr id="19" name="Shape 17"/>
          <p:cNvSpPr/>
          <p:nvPr/>
        </p:nvSpPr>
        <p:spPr>
          <a:xfrm>
            <a:off x="6080760" y="3538728"/>
            <a:ext cx="5074920" cy="1572768"/>
          </a:xfrm>
          <a:prstGeom prst="roundRect">
            <a:avLst>
              <a:gd name="adj" fmla="val 8721"/>
            </a:avLst>
          </a:prstGeom>
          <a:solidFill>
            <a:srgbClr val="FFFFFF"/>
          </a:solidFill>
          <a:ln w="12700">
            <a:solidFill>
              <a:srgbClr val="D8E4EE"/>
            </a:solidFill>
            <a:prstDash val="solid"/>
          </a:ln>
        </p:spPr>
        <p:txBody>
          <a:bodyPr/>
          <a:lstStyle/>
          <a:p>
            <a:endParaRPr lang="en-GB"/>
          </a:p>
        </p:txBody>
      </p:sp>
      <p:sp>
        <p:nvSpPr>
          <p:cNvPr id="20" name="Shape 18"/>
          <p:cNvSpPr/>
          <p:nvPr/>
        </p:nvSpPr>
        <p:spPr>
          <a:xfrm>
            <a:off x="6373368" y="3922776"/>
            <a:ext cx="530352" cy="530352"/>
          </a:xfrm>
          <a:prstGeom prst="ellipse">
            <a:avLst/>
          </a:prstGeom>
          <a:solidFill>
            <a:srgbClr val="E9FBF8"/>
          </a:solidFill>
          <a:ln w="17780">
            <a:solidFill>
              <a:srgbClr val="7C3AED"/>
            </a:solidFill>
            <a:prstDash val="solid"/>
          </a:ln>
        </p:spPr>
        <p:txBody>
          <a:bodyPr/>
          <a:lstStyle/>
          <a:p>
            <a:endParaRPr lang="en-GB"/>
          </a:p>
        </p:txBody>
      </p:sp>
      <p:sp>
        <p:nvSpPr>
          <p:cNvPr id="21" name="Text 19"/>
          <p:cNvSpPr/>
          <p:nvPr/>
        </p:nvSpPr>
        <p:spPr>
          <a:xfrm>
            <a:off x="6373368" y="4023360"/>
            <a:ext cx="530352" cy="228600"/>
          </a:xfrm>
          <a:prstGeom prst="rect">
            <a:avLst/>
          </a:prstGeom>
          <a:noFill/>
          <a:ln/>
        </p:spPr>
        <p:txBody>
          <a:bodyPr wrap="square" lIns="0" tIns="0" rIns="0" bIns="0" rtlCol="0" anchor="ctr"/>
          <a:lstStyle/>
          <a:p>
            <a:pPr marL="0" indent="0" algn="ctr">
              <a:buNone/>
            </a:pPr>
            <a:r>
              <a:rPr lang="en-US" sz="1800" b="1" dirty="0">
                <a:solidFill>
                  <a:srgbClr val="7C3AED"/>
                </a:solidFill>
                <a:latin typeface="Aptos Display" pitchFamily="34" charset="0"/>
                <a:ea typeface="Aptos Display" pitchFamily="34" charset="-122"/>
                <a:cs typeface="Aptos Display" pitchFamily="34" charset="-120"/>
              </a:rPr>
              <a:t>↕</a:t>
            </a:r>
            <a:endParaRPr lang="en-US" sz="1800" dirty="0"/>
          </a:p>
        </p:txBody>
      </p:sp>
      <p:sp>
        <p:nvSpPr>
          <p:cNvPr id="22" name="Text 20"/>
          <p:cNvSpPr/>
          <p:nvPr/>
        </p:nvSpPr>
        <p:spPr>
          <a:xfrm>
            <a:off x="7086600" y="3886200"/>
            <a:ext cx="3703320" cy="246888"/>
          </a:xfrm>
          <a:prstGeom prst="rect">
            <a:avLst/>
          </a:prstGeom>
          <a:noFill/>
          <a:ln/>
        </p:spPr>
        <p:txBody>
          <a:bodyPr wrap="square" lIns="0" tIns="0" rIns="0" bIns="0" rtlCol="0" anchor="ctr"/>
          <a:lstStyle/>
          <a:p>
            <a:pPr marL="0" indent="0">
              <a:buNone/>
            </a:pPr>
            <a:r>
              <a:rPr lang="en-US" sz="1900" b="1" dirty="0">
                <a:solidFill>
                  <a:srgbClr val="0B1F33"/>
                </a:solidFill>
                <a:latin typeface="Aptos Display" pitchFamily="34" charset="0"/>
                <a:ea typeface="Aptos Display" pitchFamily="34" charset="-122"/>
                <a:cs typeface="Aptos Display" pitchFamily="34" charset="-120"/>
              </a:rPr>
              <a:t>Price / tariff volatility</a:t>
            </a:r>
            <a:endParaRPr lang="en-US" sz="1900" dirty="0"/>
          </a:p>
        </p:txBody>
      </p:sp>
      <p:sp>
        <p:nvSpPr>
          <p:cNvPr id="23" name="Text 21"/>
          <p:cNvSpPr/>
          <p:nvPr/>
        </p:nvSpPr>
        <p:spPr>
          <a:xfrm>
            <a:off x="7104888" y="4270248"/>
            <a:ext cx="3657600" cy="384048"/>
          </a:xfrm>
          <a:prstGeom prst="rect">
            <a:avLst/>
          </a:prstGeom>
          <a:noFill/>
          <a:ln/>
        </p:spPr>
        <p:txBody>
          <a:bodyPr wrap="square" lIns="127" tIns="127" rIns="127" bIns="127" rtlCol="0" anchor="ctr">
            <a:normAutofit/>
          </a:bodyPr>
          <a:lstStyle/>
          <a:p>
            <a:pPr marL="0" indent="0">
              <a:buNone/>
            </a:pPr>
            <a:r>
              <a:rPr lang="en-US" sz="1280" dirty="0">
                <a:solidFill>
                  <a:srgbClr val="64748B"/>
                </a:solidFill>
                <a:latin typeface="Aptos" pitchFamily="34" charset="0"/>
                <a:ea typeface="Aptos" pitchFamily="34" charset="-122"/>
                <a:cs typeface="Aptos" pitchFamily="34" charset="-120"/>
              </a:rPr>
              <a:t>What can damage margin between quote, shipment and delivery?</a:t>
            </a:r>
            <a:endParaRPr lang="en-US" sz="1280" dirty="0"/>
          </a:p>
        </p:txBody>
      </p:sp>
      <p:sp>
        <p:nvSpPr>
          <p:cNvPr id="24" name="Text 22"/>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ADAMftd Affiliate Kit · ADAMftd.com</a:t>
            </a:r>
            <a:endParaRPr lang="en-US" sz="850" dirty="0"/>
          </a:p>
        </p:txBody>
      </p:sp>
      <p:sp>
        <p:nvSpPr>
          <p:cNvPr id="25" name="Text 23"/>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B34"/>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ADAMftd in one customer sentence</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BBD4E6"/>
                </a:solidFill>
                <a:latin typeface="Aptos" pitchFamily="34" charset="0"/>
                <a:ea typeface="Aptos" pitchFamily="34" charset="-122"/>
                <a:cs typeface="Aptos" pitchFamily="34" charset="-120"/>
              </a:rPr>
              <a:t>Use this line before any demo or offer.</a:t>
            </a:r>
            <a:endParaRPr lang="en-US" sz="1180" dirty="0"/>
          </a:p>
        </p:txBody>
      </p:sp>
      <p:sp>
        <p:nvSpPr>
          <p:cNvPr id="5" name="Shape 2"/>
          <p:cNvSpPr/>
          <p:nvPr/>
        </p:nvSpPr>
        <p:spPr>
          <a:xfrm>
            <a:off x="621792" y="2395728"/>
            <a:ext cx="5212080" cy="2148840"/>
          </a:xfrm>
          <a:prstGeom prst="roundRect">
            <a:avLst>
              <a:gd name="adj" fmla="val 6809"/>
            </a:avLst>
          </a:prstGeom>
          <a:solidFill>
            <a:srgbClr val="082B52"/>
          </a:solidFill>
          <a:ln w="12700">
            <a:solidFill>
              <a:srgbClr val="27516E"/>
            </a:solidFill>
            <a:prstDash val="solid"/>
          </a:ln>
        </p:spPr>
        <p:txBody>
          <a:bodyPr/>
          <a:lstStyle/>
          <a:p>
            <a:endParaRPr lang="en-GB"/>
          </a:p>
        </p:txBody>
      </p:sp>
      <p:sp>
        <p:nvSpPr>
          <p:cNvPr id="6" name="Text 3"/>
          <p:cNvSpPr/>
          <p:nvPr/>
        </p:nvSpPr>
        <p:spPr>
          <a:xfrm>
            <a:off x="960120" y="2743200"/>
            <a:ext cx="4572000" cy="1298448"/>
          </a:xfrm>
          <a:prstGeom prst="rect">
            <a:avLst/>
          </a:prstGeom>
          <a:noFill/>
          <a:ln/>
        </p:spPr>
        <p:txBody>
          <a:bodyPr wrap="square" lIns="254" tIns="254" rIns="254" bIns="254" rtlCol="0" anchor="ctr">
            <a:normAutofit/>
          </a:bodyPr>
          <a:lstStyle/>
          <a:p>
            <a:pPr marL="0" indent="0">
              <a:buNone/>
            </a:pPr>
            <a:r>
              <a:rPr lang="en-US" sz="2020" b="1" dirty="0">
                <a:solidFill>
                  <a:srgbClr val="FFFFFF"/>
                </a:solidFill>
                <a:latin typeface="Aptos Display" pitchFamily="34" charset="0"/>
                <a:ea typeface="Aptos Display" pitchFamily="34" charset="-122"/>
                <a:cs typeface="Aptos Display" pitchFamily="34" charset="-120"/>
              </a:rPr>
              <a:t>ADAMftd is an AI-native trade intelligence platform grounded in source data that helps companies verify counterparties, discover buyers and suppliers, analyse markets, and protect margins from price and tariff volatility.</a:t>
            </a:r>
            <a:endParaRPr lang="en-US" sz="2020" dirty="0"/>
          </a:p>
        </p:txBody>
      </p:sp>
      <p:sp>
        <p:nvSpPr>
          <p:cNvPr id="7" name="Shape 4"/>
          <p:cNvSpPr/>
          <p:nvPr/>
        </p:nvSpPr>
        <p:spPr>
          <a:xfrm>
            <a:off x="6400800" y="1508760"/>
            <a:ext cx="3200400" cy="329184"/>
          </a:xfrm>
          <a:prstGeom prst="roundRect">
            <a:avLst>
              <a:gd name="adj" fmla="val 16667"/>
            </a:avLst>
          </a:prstGeom>
          <a:solidFill>
            <a:srgbClr val="00A99D"/>
          </a:solidFill>
          <a:ln w="12700">
            <a:solidFill>
              <a:srgbClr val="00A99D">
                <a:alpha val="0"/>
              </a:srgbClr>
            </a:solidFill>
            <a:prstDash val="solid"/>
          </a:ln>
        </p:spPr>
        <p:txBody>
          <a:bodyPr/>
          <a:lstStyle/>
          <a:p>
            <a:endParaRPr lang="en-GB"/>
          </a:p>
        </p:txBody>
      </p:sp>
      <p:sp>
        <p:nvSpPr>
          <p:cNvPr id="8" name="Text 5"/>
          <p:cNvSpPr/>
          <p:nvPr/>
        </p:nvSpPr>
        <p:spPr>
          <a:xfrm>
            <a:off x="6510528" y="1586484"/>
            <a:ext cx="2980944" cy="1097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Source data</a:t>
            </a:r>
            <a:endParaRPr lang="en-US" sz="950" dirty="0"/>
          </a:p>
        </p:txBody>
      </p:sp>
      <p:sp>
        <p:nvSpPr>
          <p:cNvPr id="9" name="Shape 6"/>
          <p:cNvSpPr/>
          <p:nvPr/>
        </p:nvSpPr>
        <p:spPr>
          <a:xfrm>
            <a:off x="6400800" y="2167128"/>
            <a:ext cx="3200400" cy="329184"/>
          </a:xfrm>
          <a:prstGeom prst="roundRect">
            <a:avLst>
              <a:gd name="adj" fmla="val 16667"/>
            </a:avLst>
          </a:prstGeom>
          <a:solidFill>
            <a:srgbClr val="00A99D"/>
          </a:solidFill>
          <a:ln w="12700">
            <a:solidFill>
              <a:srgbClr val="00A99D">
                <a:alpha val="0"/>
              </a:srgbClr>
            </a:solidFill>
            <a:prstDash val="solid"/>
          </a:ln>
        </p:spPr>
        <p:txBody>
          <a:bodyPr/>
          <a:lstStyle/>
          <a:p>
            <a:endParaRPr lang="en-GB"/>
          </a:p>
        </p:txBody>
      </p:sp>
      <p:sp>
        <p:nvSpPr>
          <p:cNvPr id="10" name="Text 7"/>
          <p:cNvSpPr/>
          <p:nvPr/>
        </p:nvSpPr>
        <p:spPr>
          <a:xfrm>
            <a:off x="6510528" y="2244852"/>
            <a:ext cx="2980944" cy="1097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Trade workflows</a:t>
            </a:r>
            <a:endParaRPr lang="en-US" sz="950" dirty="0"/>
          </a:p>
        </p:txBody>
      </p:sp>
      <p:sp>
        <p:nvSpPr>
          <p:cNvPr id="11" name="Shape 8"/>
          <p:cNvSpPr/>
          <p:nvPr/>
        </p:nvSpPr>
        <p:spPr>
          <a:xfrm>
            <a:off x="6400800" y="2825496"/>
            <a:ext cx="3200400" cy="329184"/>
          </a:xfrm>
          <a:prstGeom prst="roundRect">
            <a:avLst>
              <a:gd name="adj" fmla="val 16667"/>
            </a:avLst>
          </a:prstGeom>
          <a:solidFill>
            <a:srgbClr val="F59E0B"/>
          </a:solidFill>
          <a:ln w="12700">
            <a:solidFill>
              <a:srgbClr val="F59E0B">
                <a:alpha val="0"/>
              </a:srgbClr>
            </a:solidFill>
            <a:prstDash val="solid"/>
          </a:ln>
        </p:spPr>
        <p:txBody>
          <a:bodyPr/>
          <a:lstStyle/>
          <a:p>
            <a:endParaRPr lang="en-GB"/>
          </a:p>
        </p:txBody>
      </p:sp>
      <p:sp>
        <p:nvSpPr>
          <p:cNvPr id="12" name="Text 9"/>
          <p:cNvSpPr/>
          <p:nvPr/>
        </p:nvSpPr>
        <p:spPr>
          <a:xfrm>
            <a:off x="6510528" y="2903220"/>
            <a:ext cx="2980944" cy="1097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Market intelligence</a:t>
            </a:r>
            <a:endParaRPr lang="en-US" sz="950" dirty="0"/>
          </a:p>
        </p:txBody>
      </p:sp>
      <p:sp>
        <p:nvSpPr>
          <p:cNvPr id="13" name="Shape 10"/>
          <p:cNvSpPr/>
          <p:nvPr/>
        </p:nvSpPr>
        <p:spPr>
          <a:xfrm>
            <a:off x="6400800" y="3483864"/>
            <a:ext cx="3200400" cy="329184"/>
          </a:xfrm>
          <a:prstGeom prst="roundRect">
            <a:avLst>
              <a:gd name="adj" fmla="val 16667"/>
            </a:avLst>
          </a:prstGeom>
          <a:solidFill>
            <a:srgbClr val="7C3AED"/>
          </a:solidFill>
          <a:ln w="12700">
            <a:solidFill>
              <a:srgbClr val="7C3AED">
                <a:alpha val="0"/>
              </a:srgbClr>
            </a:solidFill>
            <a:prstDash val="solid"/>
          </a:ln>
        </p:spPr>
        <p:txBody>
          <a:bodyPr/>
          <a:lstStyle/>
          <a:p>
            <a:endParaRPr lang="en-GB"/>
          </a:p>
        </p:txBody>
      </p:sp>
      <p:sp>
        <p:nvSpPr>
          <p:cNvPr id="14" name="Text 11"/>
          <p:cNvSpPr/>
          <p:nvPr/>
        </p:nvSpPr>
        <p:spPr>
          <a:xfrm>
            <a:off x="6510528" y="3561588"/>
            <a:ext cx="2980944" cy="109728"/>
          </a:xfrm>
          <a:prstGeom prst="rect">
            <a:avLst/>
          </a:prstGeom>
          <a:noFill/>
          <a:ln/>
        </p:spPr>
        <p:txBody>
          <a:bodyPr wrap="square" lIns="0" tIns="0" rIns="0" bIns="0" rtlCol="0" anchor="ctr"/>
          <a:lstStyle/>
          <a:p>
            <a:pPr marL="0" indent="0" algn="ctr">
              <a:buNone/>
            </a:pPr>
            <a:r>
              <a:rPr lang="en-US" sz="950" b="1" dirty="0">
                <a:solidFill>
                  <a:srgbClr val="FFFFFF"/>
                </a:solidFill>
                <a:latin typeface="Aptos" pitchFamily="34" charset="0"/>
                <a:ea typeface="Aptos" pitchFamily="34" charset="-122"/>
                <a:cs typeface="Aptos" pitchFamily="34" charset="-120"/>
              </a:rPr>
              <a:t>Margin protection</a:t>
            </a:r>
            <a:endParaRPr lang="en-US" sz="950" dirty="0"/>
          </a:p>
        </p:txBody>
      </p:sp>
      <p:sp>
        <p:nvSpPr>
          <p:cNvPr id="15" name="Shape 12"/>
          <p:cNvSpPr/>
          <p:nvPr/>
        </p:nvSpPr>
        <p:spPr>
          <a:xfrm>
            <a:off x="6400800" y="4480560"/>
            <a:ext cx="4754880" cy="749808"/>
          </a:xfrm>
          <a:prstGeom prst="roundRect">
            <a:avLst>
              <a:gd name="adj" fmla="val 17073"/>
            </a:avLst>
          </a:prstGeom>
          <a:solidFill>
            <a:srgbClr val="0B2746"/>
          </a:solidFill>
          <a:ln w="12700">
            <a:solidFill>
              <a:srgbClr val="27516E"/>
            </a:solidFill>
            <a:prstDash val="solid"/>
          </a:ln>
        </p:spPr>
        <p:txBody>
          <a:bodyPr/>
          <a:lstStyle/>
          <a:p>
            <a:endParaRPr lang="en-GB"/>
          </a:p>
        </p:txBody>
      </p:sp>
      <p:sp>
        <p:nvSpPr>
          <p:cNvPr id="16" name="Text 13"/>
          <p:cNvSpPr/>
          <p:nvPr/>
        </p:nvSpPr>
        <p:spPr>
          <a:xfrm>
            <a:off x="6629400" y="4681728"/>
            <a:ext cx="4297680" cy="292608"/>
          </a:xfrm>
          <a:prstGeom prst="rect">
            <a:avLst/>
          </a:prstGeom>
          <a:noFill/>
          <a:ln/>
        </p:spPr>
        <p:txBody>
          <a:bodyPr wrap="square" lIns="254" tIns="254" rIns="254" bIns="254" rtlCol="0" anchor="ctr">
            <a:normAutofit/>
          </a:bodyPr>
          <a:lstStyle/>
          <a:p>
            <a:pPr marL="0" indent="0">
              <a:buNone/>
            </a:pPr>
            <a:r>
              <a:rPr lang="en-US" sz="1210" dirty="0">
                <a:solidFill>
                  <a:srgbClr val="D9EAF4"/>
                </a:solidFill>
                <a:latin typeface="Aptos" pitchFamily="34" charset="0"/>
                <a:ea typeface="Aptos" pitchFamily="34" charset="-122"/>
                <a:cs typeface="Aptos" pitchFamily="34" charset="-120"/>
              </a:rPr>
              <a:t>Safe positioning: historical trade and shipment data, not real-time shipment tracking. Coverage varies by country, commodity, source and data availability.</a:t>
            </a:r>
            <a:endParaRPr lang="en-US" sz="1210" dirty="0"/>
          </a:p>
        </p:txBody>
      </p:sp>
      <p:sp>
        <p:nvSpPr>
          <p:cNvPr id="17" name="Text 14"/>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D9EAF4"/>
                </a:solidFill>
                <a:latin typeface="Aptos" pitchFamily="34" charset="0"/>
                <a:ea typeface="Aptos" pitchFamily="34" charset="-122"/>
                <a:cs typeface="Aptos" pitchFamily="34" charset="-120"/>
              </a:rPr>
              <a:t>ADAMftd Affiliate Kit · ADAMftd.com</a:t>
            </a:r>
            <a:endParaRPr lang="en-US" sz="850" dirty="0"/>
          </a:p>
        </p:txBody>
      </p:sp>
      <p:sp>
        <p:nvSpPr>
          <p:cNvPr id="18" name="Text 15"/>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D9EAF4"/>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Use case 1 — Supplier / Buyer verification</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64748B"/>
                </a:solidFill>
                <a:latin typeface="Aptos" pitchFamily="34" charset="0"/>
                <a:ea typeface="Aptos" pitchFamily="34" charset="-122"/>
                <a:cs typeface="Aptos" pitchFamily="34" charset="-120"/>
              </a:rPr>
              <a:t>Help the customer move from “I found a name” to “I have evidence.”</a:t>
            </a:r>
            <a:endParaRPr lang="en-US" sz="1180" dirty="0"/>
          </a:p>
        </p:txBody>
      </p:sp>
      <p:sp>
        <p:nvSpPr>
          <p:cNvPr id="4" name="Shape 2"/>
          <p:cNvSpPr/>
          <p:nvPr/>
        </p:nvSpPr>
        <p:spPr>
          <a:xfrm>
            <a:off x="640080" y="1508760"/>
            <a:ext cx="2560320" cy="3474720"/>
          </a:xfrm>
          <a:prstGeom prst="roundRect">
            <a:avLst>
              <a:gd name="adj" fmla="val 5357"/>
            </a:avLst>
          </a:prstGeom>
          <a:solidFill>
            <a:srgbClr val="FFFFFF"/>
          </a:solidFill>
          <a:ln w="12700">
            <a:solidFill>
              <a:srgbClr val="D8E4EE"/>
            </a:solidFill>
            <a:prstDash val="solid"/>
          </a:ln>
        </p:spPr>
        <p:txBody>
          <a:bodyPr/>
          <a:lstStyle/>
          <a:p>
            <a:endParaRPr lang="en-GB"/>
          </a:p>
        </p:txBody>
      </p:sp>
      <p:sp>
        <p:nvSpPr>
          <p:cNvPr id="5" name="Shape 3"/>
          <p:cNvSpPr/>
          <p:nvPr/>
        </p:nvSpPr>
        <p:spPr>
          <a:xfrm>
            <a:off x="1627632" y="1810512"/>
            <a:ext cx="530352" cy="530352"/>
          </a:xfrm>
          <a:prstGeom prst="ellipse">
            <a:avLst/>
          </a:prstGeom>
          <a:solidFill>
            <a:srgbClr val="E9FBF8"/>
          </a:solidFill>
          <a:ln w="17780">
            <a:solidFill>
              <a:srgbClr val="00A99D"/>
            </a:solidFill>
            <a:prstDash val="solid"/>
          </a:ln>
        </p:spPr>
        <p:txBody>
          <a:bodyPr/>
          <a:lstStyle/>
          <a:p>
            <a:endParaRPr lang="en-GB"/>
          </a:p>
        </p:txBody>
      </p:sp>
      <p:sp>
        <p:nvSpPr>
          <p:cNvPr id="6" name="Text 4"/>
          <p:cNvSpPr/>
          <p:nvPr/>
        </p:nvSpPr>
        <p:spPr>
          <a:xfrm>
            <a:off x="1627632" y="1911096"/>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1</a:t>
            </a:r>
            <a:endParaRPr lang="en-US" sz="1800" dirty="0"/>
          </a:p>
        </p:txBody>
      </p:sp>
      <p:sp>
        <p:nvSpPr>
          <p:cNvPr id="7" name="Text 5"/>
          <p:cNvSpPr/>
          <p:nvPr/>
        </p:nvSpPr>
        <p:spPr>
          <a:xfrm>
            <a:off x="868680" y="2615184"/>
            <a:ext cx="2103120" cy="502920"/>
          </a:xfrm>
          <a:prstGeom prst="rect">
            <a:avLst/>
          </a:prstGeom>
          <a:noFill/>
          <a:ln/>
        </p:spPr>
        <p:txBody>
          <a:bodyPr wrap="square" lIns="254" tIns="254" rIns="254" bIns="254" rtlCol="0" anchor="ctr">
            <a:normAutofit/>
          </a:bodyPr>
          <a:lstStyle/>
          <a:p>
            <a:pPr marL="0" indent="0" algn="ctr">
              <a:buNone/>
            </a:pPr>
            <a:r>
              <a:rPr lang="en-US" sz="1900" b="1" dirty="0">
                <a:solidFill>
                  <a:srgbClr val="0B1F33"/>
                </a:solidFill>
                <a:latin typeface="Aptos Display" pitchFamily="34" charset="0"/>
                <a:ea typeface="Aptos Display" pitchFamily="34" charset="-122"/>
                <a:cs typeface="Aptos Display" pitchFamily="34" charset="-120"/>
              </a:rPr>
              <a:t>Start with the entity</a:t>
            </a:r>
            <a:endParaRPr lang="en-US" sz="1900" dirty="0"/>
          </a:p>
        </p:txBody>
      </p:sp>
      <p:sp>
        <p:nvSpPr>
          <p:cNvPr id="8" name="Text 6"/>
          <p:cNvSpPr/>
          <p:nvPr/>
        </p:nvSpPr>
        <p:spPr>
          <a:xfrm>
            <a:off x="896112" y="3401568"/>
            <a:ext cx="2057400" cy="877824"/>
          </a:xfrm>
          <a:prstGeom prst="rect">
            <a:avLst/>
          </a:prstGeom>
          <a:noFill/>
          <a:ln/>
        </p:spPr>
        <p:txBody>
          <a:bodyPr wrap="square" lIns="127" tIns="127" rIns="127" bIns="127" rtlCol="0" anchor="ctr">
            <a:normAutofit/>
          </a:bodyPr>
          <a:lstStyle/>
          <a:p>
            <a:pPr marL="0" indent="0" algn="ctr">
              <a:buNone/>
            </a:pPr>
            <a:r>
              <a:rPr lang="en-US" sz="1220" dirty="0">
                <a:solidFill>
                  <a:srgbClr val="64748B"/>
                </a:solidFill>
                <a:latin typeface="Aptos" pitchFamily="34" charset="0"/>
                <a:ea typeface="Aptos" pitchFamily="34" charset="-122"/>
                <a:cs typeface="Aptos" pitchFamily="34" charset="-120"/>
              </a:rPr>
              <a:t>Company name, country, product, HS code, buyer/supplier role.</a:t>
            </a:r>
            <a:endParaRPr lang="en-US" sz="1220" dirty="0"/>
          </a:p>
        </p:txBody>
      </p:sp>
      <p:sp>
        <p:nvSpPr>
          <p:cNvPr id="9" name="Shape 7"/>
          <p:cNvSpPr/>
          <p:nvPr/>
        </p:nvSpPr>
        <p:spPr>
          <a:xfrm>
            <a:off x="3474720" y="1508760"/>
            <a:ext cx="2560320" cy="3474720"/>
          </a:xfrm>
          <a:prstGeom prst="roundRect">
            <a:avLst>
              <a:gd name="adj" fmla="val 5357"/>
            </a:avLst>
          </a:prstGeom>
          <a:solidFill>
            <a:srgbClr val="FFFFFF"/>
          </a:solidFill>
          <a:ln w="12700">
            <a:solidFill>
              <a:srgbClr val="D8E4EE"/>
            </a:solidFill>
            <a:prstDash val="solid"/>
          </a:ln>
        </p:spPr>
        <p:txBody>
          <a:bodyPr/>
          <a:lstStyle/>
          <a:p>
            <a:endParaRPr lang="en-GB"/>
          </a:p>
        </p:txBody>
      </p:sp>
      <p:sp>
        <p:nvSpPr>
          <p:cNvPr id="10" name="Shape 8"/>
          <p:cNvSpPr/>
          <p:nvPr/>
        </p:nvSpPr>
        <p:spPr>
          <a:xfrm>
            <a:off x="4462272" y="1810512"/>
            <a:ext cx="530352" cy="530352"/>
          </a:xfrm>
          <a:prstGeom prst="ellipse">
            <a:avLst/>
          </a:prstGeom>
          <a:solidFill>
            <a:srgbClr val="E9FBF8"/>
          </a:solidFill>
          <a:ln w="17780">
            <a:solidFill>
              <a:srgbClr val="33D7D2"/>
            </a:solidFill>
            <a:prstDash val="solid"/>
          </a:ln>
        </p:spPr>
        <p:txBody>
          <a:bodyPr/>
          <a:lstStyle/>
          <a:p>
            <a:endParaRPr lang="en-GB"/>
          </a:p>
        </p:txBody>
      </p:sp>
      <p:sp>
        <p:nvSpPr>
          <p:cNvPr id="11" name="Text 9"/>
          <p:cNvSpPr/>
          <p:nvPr/>
        </p:nvSpPr>
        <p:spPr>
          <a:xfrm>
            <a:off x="4462272" y="1911096"/>
            <a:ext cx="530352" cy="228600"/>
          </a:xfrm>
          <a:prstGeom prst="rect">
            <a:avLst/>
          </a:prstGeom>
          <a:noFill/>
          <a:ln/>
        </p:spPr>
        <p:txBody>
          <a:bodyPr wrap="square" lIns="0" tIns="0" rIns="0" bIns="0" rtlCol="0" anchor="ctr"/>
          <a:lstStyle/>
          <a:p>
            <a:pPr marL="0" indent="0" algn="ctr">
              <a:buNone/>
            </a:pPr>
            <a:r>
              <a:rPr lang="en-US" sz="1800" b="1" dirty="0">
                <a:solidFill>
                  <a:srgbClr val="33D7D2"/>
                </a:solidFill>
                <a:latin typeface="Aptos Display" pitchFamily="34" charset="0"/>
                <a:ea typeface="Aptos Display" pitchFamily="34" charset="-122"/>
                <a:cs typeface="Aptos Display" pitchFamily="34" charset="-120"/>
              </a:rPr>
              <a:t>2</a:t>
            </a:r>
            <a:endParaRPr lang="en-US" sz="1800" dirty="0"/>
          </a:p>
        </p:txBody>
      </p:sp>
      <p:sp>
        <p:nvSpPr>
          <p:cNvPr id="12" name="Text 10"/>
          <p:cNvSpPr/>
          <p:nvPr/>
        </p:nvSpPr>
        <p:spPr>
          <a:xfrm>
            <a:off x="3703320" y="2615184"/>
            <a:ext cx="2103120" cy="502920"/>
          </a:xfrm>
          <a:prstGeom prst="rect">
            <a:avLst/>
          </a:prstGeom>
          <a:noFill/>
          <a:ln/>
        </p:spPr>
        <p:txBody>
          <a:bodyPr wrap="square" lIns="254" tIns="254" rIns="254" bIns="254" rtlCol="0" anchor="ctr">
            <a:normAutofit/>
          </a:bodyPr>
          <a:lstStyle/>
          <a:p>
            <a:pPr marL="0" indent="0" algn="ctr">
              <a:buNone/>
            </a:pPr>
            <a:r>
              <a:rPr lang="en-US" sz="1900" b="1" dirty="0">
                <a:solidFill>
                  <a:srgbClr val="0B1F33"/>
                </a:solidFill>
                <a:latin typeface="Aptos Display" pitchFamily="34" charset="0"/>
                <a:ea typeface="Aptos Display" pitchFamily="34" charset="-122"/>
                <a:cs typeface="Aptos Display" pitchFamily="34" charset="-120"/>
              </a:rPr>
              <a:t>Cross-check trade signals</a:t>
            </a:r>
            <a:endParaRPr lang="en-US" sz="1900" dirty="0"/>
          </a:p>
        </p:txBody>
      </p:sp>
      <p:sp>
        <p:nvSpPr>
          <p:cNvPr id="13" name="Text 11"/>
          <p:cNvSpPr/>
          <p:nvPr/>
        </p:nvSpPr>
        <p:spPr>
          <a:xfrm>
            <a:off x="3730752" y="3401568"/>
            <a:ext cx="2057400" cy="877824"/>
          </a:xfrm>
          <a:prstGeom prst="rect">
            <a:avLst/>
          </a:prstGeom>
          <a:noFill/>
          <a:ln/>
        </p:spPr>
        <p:txBody>
          <a:bodyPr wrap="square" lIns="127" tIns="127" rIns="127" bIns="127" rtlCol="0" anchor="ctr">
            <a:normAutofit/>
          </a:bodyPr>
          <a:lstStyle/>
          <a:p>
            <a:pPr marL="0" indent="0" algn="ctr">
              <a:buNone/>
            </a:pPr>
            <a:r>
              <a:rPr lang="en-US" sz="1220" dirty="0">
                <a:solidFill>
                  <a:srgbClr val="64748B"/>
                </a:solidFill>
                <a:latin typeface="Aptos" pitchFamily="34" charset="0"/>
                <a:ea typeface="Aptos" pitchFamily="34" charset="-122"/>
                <a:cs typeface="Aptos" pitchFamily="34" charset="-120"/>
              </a:rPr>
              <a:t>Look for shipment patterns, trade lanes, counterparties, markets and consistency.</a:t>
            </a:r>
            <a:endParaRPr lang="en-US" sz="1220" dirty="0"/>
          </a:p>
        </p:txBody>
      </p:sp>
      <p:sp>
        <p:nvSpPr>
          <p:cNvPr id="14" name="Shape 12"/>
          <p:cNvSpPr/>
          <p:nvPr/>
        </p:nvSpPr>
        <p:spPr>
          <a:xfrm>
            <a:off x="6309360" y="1508760"/>
            <a:ext cx="2560320" cy="3474720"/>
          </a:xfrm>
          <a:prstGeom prst="roundRect">
            <a:avLst>
              <a:gd name="adj" fmla="val 5357"/>
            </a:avLst>
          </a:prstGeom>
          <a:solidFill>
            <a:srgbClr val="FFFFFF"/>
          </a:solidFill>
          <a:ln w="12700">
            <a:solidFill>
              <a:srgbClr val="D8E4EE"/>
            </a:solidFill>
            <a:prstDash val="solid"/>
          </a:ln>
        </p:spPr>
        <p:txBody>
          <a:bodyPr/>
          <a:lstStyle/>
          <a:p>
            <a:endParaRPr lang="en-GB"/>
          </a:p>
        </p:txBody>
      </p:sp>
      <p:sp>
        <p:nvSpPr>
          <p:cNvPr id="15" name="Shape 13"/>
          <p:cNvSpPr/>
          <p:nvPr/>
        </p:nvSpPr>
        <p:spPr>
          <a:xfrm>
            <a:off x="7296912" y="1810512"/>
            <a:ext cx="530352" cy="530352"/>
          </a:xfrm>
          <a:prstGeom prst="ellipse">
            <a:avLst/>
          </a:prstGeom>
          <a:solidFill>
            <a:srgbClr val="E9FBF8"/>
          </a:solidFill>
          <a:ln w="17780">
            <a:solidFill>
              <a:srgbClr val="F59E0B"/>
            </a:solidFill>
            <a:prstDash val="solid"/>
          </a:ln>
        </p:spPr>
        <p:txBody>
          <a:bodyPr/>
          <a:lstStyle/>
          <a:p>
            <a:endParaRPr lang="en-GB"/>
          </a:p>
        </p:txBody>
      </p:sp>
      <p:sp>
        <p:nvSpPr>
          <p:cNvPr id="16" name="Text 14"/>
          <p:cNvSpPr/>
          <p:nvPr/>
        </p:nvSpPr>
        <p:spPr>
          <a:xfrm>
            <a:off x="7296912" y="1911096"/>
            <a:ext cx="530352" cy="228600"/>
          </a:xfrm>
          <a:prstGeom prst="rect">
            <a:avLst/>
          </a:prstGeom>
          <a:noFill/>
          <a:ln/>
        </p:spPr>
        <p:txBody>
          <a:bodyPr wrap="square" lIns="0" tIns="0" rIns="0" bIns="0" rtlCol="0" anchor="ctr"/>
          <a:lstStyle/>
          <a:p>
            <a:pPr marL="0" indent="0" algn="ctr">
              <a:buNone/>
            </a:pPr>
            <a:r>
              <a:rPr lang="en-US" sz="1800" b="1" dirty="0">
                <a:solidFill>
                  <a:srgbClr val="F59E0B"/>
                </a:solidFill>
                <a:latin typeface="Aptos Display" pitchFamily="34" charset="0"/>
                <a:ea typeface="Aptos Display" pitchFamily="34" charset="-122"/>
                <a:cs typeface="Aptos Display" pitchFamily="34" charset="-120"/>
              </a:rPr>
              <a:t>3</a:t>
            </a:r>
            <a:endParaRPr lang="en-US" sz="1800" dirty="0"/>
          </a:p>
        </p:txBody>
      </p:sp>
      <p:sp>
        <p:nvSpPr>
          <p:cNvPr id="17" name="Text 15"/>
          <p:cNvSpPr/>
          <p:nvPr/>
        </p:nvSpPr>
        <p:spPr>
          <a:xfrm>
            <a:off x="6537960" y="2615184"/>
            <a:ext cx="2103120" cy="502920"/>
          </a:xfrm>
          <a:prstGeom prst="rect">
            <a:avLst/>
          </a:prstGeom>
          <a:noFill/>
          <a:ln/>
        </p:spPr>
        <p:txBody>
          <a:bodyPr wrap="square" lIns="254" tIns="254" rIns="254" bIns="254" rtlCol="0" anchor="ctr">
            <a:normAutofit/>
          </a:bodyPr>
          <a:lstStyle/>
          <a:p>
            <a:pPr marL="0" indent="0" algn="ctr">
              <a:buNone/>
            </a:pPr>
            <a:r>
              <a:rPr lang="en-US" sz="1900" b="1" dirty="0">
                <a:solidFill>
                  <a:srgbClr val="0B1F33"/>
                </a:solidFill>
                <a:latin typeface="Aptos Display" pitchFamily="34" charset="0"/>
                <a:ea typeface="Aptos Display" pitchFamily="34" charset="-122"/>
                <a:cs typeface="Aptos Display" pitchFamily="34" charset="-120"/>
              </a:rPr>
              <a:t>Validate risk context</a:t>
            </a:r>
            <a:endParaRPr lang="en-US" sz="1900" dirty="0"/>
          </a:p>
        </p:txBody>
      </p:sp>
      <p:sp>
        <p:nvSpPr>
          <p:cNvPr id="18" name="Text 16"/>
          <p:cNvSpPr/>
          <p:nvPr/>
        </p:nvSpPr>
        <p:spPr>
          <a:xfrm>
            <a:off x="6565392" y="3401568"/>
            <a:ext cx="2057400" cy="877824"/>
          </a:xfrm>
          <a:prstGeom prst="rect">
            <a:avLst/>
          </a:prstGeom>
          <a:noFill/>
          <a:ln/>
        </p:spPr>
        <p:txBody>
          <a:bodyPr wrap="square" lIns="127" tIns="127" rIns="127" bIns="127" rtlCol="0" anchor="ctr">
            <a:normAutofit/>
          </a:bodyPr>
          <a:lstStyle/>
          <a:p>
            <a:pPr marL="0" indent="0" algn="ctr">
              <a:buNone/>
            </a:pPr>
            <a:r>
              <a:rPr lang="en-US" sz="1220" dirty="0">
                <a:solidFill>
                  <a:srgbClr val="64748B"/>
                </a:solidFill>
                <a:latin typeface="Aptos" pitchFamily="34" charset="0"/>
                <a:ea typeface="Aptos" pitchFamily="34" charset="-122"/>
                <a:cs typeface="Aptos" pitchFamily="34" charset="-120"/>
              </a:rPr>
              <a:t>Screen sanctions, company context, and market plausibility.</a:t>
            </a:r>
            <a:endParaRPr lang="en-US" sz="1220" dirty="0"/>
          </a:p>
        </p:txBody>
      </p:sp>
      <p:sp>
        <p:nvSpPr>
          <p:cNvPr id="19" name="Shape 17"/>
          <p:cNvSpPr/>
          <p:nvPr/>
        </p:nvSpPr>
        <p:spPr>
          <a:xfrm>
            <a:off x="9144000" y="1508760"/>
            <a:ext cx="2560320" cy="3474720"/>
          </a:xfrm>
          <a:prstGeom prst="roundRect">
            <a:avLst>
              <a:gd name="adj" fmla="val 5357"/>
            </a:avLst>
          </a:prstGeom>
          <a:solidFill>
            <a:srgbClr val="FFFFFF"/>
          </a:solidFill>
          <a:ln w="12700">
            <a:solidFill>
              <a:srgbClr val="D8E4EE"/>
            </a:solidFill>
            <a:prstDash val="solid"/>
          </a:ln>
        </p:spPr>
        <p:txBody>
          <a:bodyPr/>
          <a:lstStyle/>
          <a:p>
            <a:endParaRPr lang="en-GB"/>
          </a:p>
        </p:txBody>
      </p:sp>
      <p:sp>
        <p:nvSpPr>
          <p:cNvPr id="20" name="Shape 18"/>
          <p:cNvSpPr/>
          <p:nvPr/>
        </p:nvSpPr>
        <p:spPr>
          <a:xfrm>
            <a:off x="10131552" y="1810512"/>
            <a:ext cx="530352" cy="530352"/>
          </a:xfrm>
          <a:prstGeom prst="ellipse">
            <a:avLst/>
          </a:prstGeom>
          <a:solidFill>
            <a:srgbClr val="E9FBF8"/>
          </a:solidFill>
          <a:ln w="17780">
            <a:solidFill>
              <a:srgbClr val="22C55E"/>
            </a:solidFill>
            <a:prstDash val="solid"/>
          </a:ln>
        </p:spPr>
        <p:txBody>
          <a:bodyPr/>
          <a:lstStyle/>
          <a:p>
            <a:endParaRPr lang="en-GB"/>
          </a:p>
        </p:txBody>
      </p:sp>
      <p:sp>
        <p:nvSpPr>
          <p:cNvPr id="21" name="Text 19"/>
          <p:cNvSpPr/>
          <p:nvPr/>
        </p:nvSpPr>
        <p:spPr>
          <a:xfrm>
            <a:off x="10131552" y="1911096"/>
            <a:ext cx="530352" cy="228600"/>
          </a:xfrm>
          <a:prstGeom prst="rect">
            <a:avLst/>
          </a:prstGeom>
          <a:noFill/>
          <a:ln/>
        </p:spPr>
        <p:txBody>
          <a:bodyPr wrap="square" lIns="0" tIns="0" rIns="0" bIns="0" rtlCol="0" anchor="ctr"/>
          <a:lstStyle/>
          <a:p>
            <a:pPr marL="0" indent="0" algn="ctr">
              <a:buNone/>
            </a:pPr>
            <a:r>
              <a:rPr lang="en-US" sz="1800" b="1" dirty="0">
                <a:solidFill>
                  <a:srgbClr val="22C55E"/>
                </a:solidFill>
                <a:latin typeface="Aptos Display" pitchFamily="34" charset="0"/>
                <a:ea typeface="Aptos Display" pitchFamily="34" charset="-122"/>
                <a:cs typeface="Aptos Display" pitchFamily="34" charset="-120"/>
              </a:rPr>
              <a:t>4</a:t>
            </a:r>
            <a:endParaRPr lang="en-US" sz="1800" dirty="0"/>
          </a:p>
        </p:txBody>
      </p:sp>
      <p:sp>
        <p:nvSpPr>
          <p:cNvPr id="22" name="Text 20"/>
          <p:cNvSpPr/>
          <p:nvPr/>
        </p:nvSpPr>
        <p:spPr>
          <a:xfrm>
            <a:off x="9372600" y="2615184"/>
            <a:ext cx="2103120" cy="502920"/>
          </a:xfrm>
          <a:prstGeom prst="rect">
            <a:avLst/>
          </a:prstGeom>
          <a:noFill/>
          <a:ln/>
        </p:spPr>
        <p:txBody>
          <a:bodyPr wrap="square" lIns="254" tIns="254" rIns="254" bIns="254" rtlCol="0" anchor="ctr">
            <a:normAutofit/>
          </a:bodyPr>
          <a:lstStyle/>
          <a:p>
            <a:pPr marL="0" indent="0" algn="ctr">
              <a:buNone/>
            </a:pPr>
            <a:r>
              <a:rPr lang="en-US" sz="1900" b="1" dirty="0">
                <a:solidFill>
                  <a:srgbClr val="0B1F33"/>
                </a:solidFill>
                <a:latin typeface="Aptos Display" pitchFamily="34" charset="0"/>
                <a:ea typeface="Aptos Display" pitchFamily="34" charset="-122"/>
                <a:cs typeface="Aptos Display" pitchFamily="34" charset="-120"/>
              </a:rPr>
              <a:t>Decide what to do next</a:t>
            </a:r>
            <a:endParaRPr lang="en-US" sz="1900" dirty="0"/>
          </a:p>
        </p:txBody>
      </p:sp>
      <p:sp>
        <p:nvSpPr>
          <p:cNvPr id="23" name="Text 21"/>
          <p:cNvSpPr/>
          <p:nvPr/>
        </p:nvSpPr>
        <p:spPr>
          <a:xfrm>
            <a:off x="9400032" y="3401568"/>
            <a:ext cx="2057400" cy="877824"/>
          </a:xfrm>
          <a:prstGeom prst="rect">
            <a:avLst/>
          </a:prstGeom>
          <a:noFill/>
          <a:ln/>
        </p:spPr>
        <p:txBody>
          <a:bodyPr wrap="square" lIns="127" tIns="127" rIns="127" bIns="127" rtlCol="0" anchor="ctr">
            <a:normAutofit/>
          </a:bodyPr>
          <a:lstStyle/>
          <a:p>
            <a:pPr marL="0" indent="0" algn="ctr">
              <a:buNone/>
            </a:pPr>
            <a:r>
              <a:rPr lang="en-US" sz="1220" dirty="0">
                <a:solidFill>
                  <a:srgbClr val="64748B"/>
                </a:solidFill>
                <a:latin typeface="Aptos" pitchFamily="34" charset="0"/>
                <a:ea typeface="Aptos" pitchFamily="34" charset="-122"/>
                <a:cs typeface="Aptos" pitchFamily="34" charset="-120"/>
              </a:rPr>
              <a:t>Proceed, ask more questions, request documents, or exclude.</a:t>
            </a:r>
            <a:endParaRPr lang="en-US" sz="1220" dirty="0"/>
          </a:p>
        </p:txBody>
      </p:sp>
      <p:sp>
        <p:nvSpPr>
          <p:cNvPr id="24" name="Shape 22"/>
          <p:cNvSpPr/>
          <p:nvPr/>
        </p:nvSpPr>
        <p:spPr>
          <a:xfrm>
            <a:off x="1005840" y="5440680"/>
            <a:ext cx="10149840" cy="530352"/>
          </a:xfrm>
          <a:prstGeom prst="roundRect">
            <a:avLst>
              <a:gd name="adj" fmla="val 20690"/>
            </a:avLst>
          </a:prstGeom>
          <a:solidFill>
            <a:srgbClr val="E9FBF8"/>
          </a:solidFill>
          <a:ln w="12700">
            <a:solidFill>
              <a:srgbClr val="B8E8E0"/>
            </a:solidFill>
            <a:prstDash val="solid"/>
          </a:ln>
        </p:spPr>
        <p:txBody>
          <a:bodyPr/>
          <a:lstStyle/>
          <a:p>
            <a:endParaRPr lang="en-GB"/>
          </a:p>
        </p:txBody>
      </p:sp>
      <p:sp>
        <p:nvSpPr>
          <p:cNvPr id="25" name="Text 23"/>
          <p:cNvSpPr/>
          <p:nvPr/>
        </p:nvSpPr>
        <p:spPr>
          <a:xfrm>
            <a:off x="1234440" y="5596128"/>
            <a:ext cx="9738360" cy="164592"/>
          </a:xfrm>
          <a:prstGeom prst="rect">
            <a:avLst/>
          </a:prstGeom>
          <a:noFill/>
          <a:ln/>
        </p:spPr>
        <p:txBody>
          <a:bodyPr wrap="square" lIns="0" tIns="0" rIns="0" bIns="0" rtlCol="0" anchor="ctr"/>
          <a:lstStyle/>
          <a:p>
            <a:pPr marL="0" indent="0">
              <a:buNone/>
            </a:pPr>
            <a:r>
              <a:rPr lang="en-US" sz="1320" b="1" dirty="0">
                <a:solidFill>
                  <a:srgbClr val="0B1F33"/>
                </a:solidFill>
                <a:latin typeface="Aptos" pitchFamily="34" charset="0"/>
                <a:ea typeface="Aptos" pitchFamily="34" charset="-122"/>
                <a:cs typeface="Aptos" pitchFamily="34" charset="-120"/>
              </a:rPr>
              <a:t>Affiliate angle: “Before you send money, sign a contract or schedule a meeting, use ADAMftd to verify whether the counterparty is commercially plausible.”</a:t>
            </a:r>
            <a:endParaRPr lang="en-US" sz="1320" dirty="0"/>
          </a:p>
        </p:txBody>
      </p:sp>
      <p:sp>
        <p:nvSpPr>
          <p:cNvPr id="26" name="Text 24"/>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ADAMftd Affiliate Kit · ADAMftd.com</a:t>
            </a:r>
            <a:endParaRPr lang="en-US" sz="850" dirty="0"/>
          </a:p>
        </p:txBody>
      </p:sp>
      <p:sp>
        <p:nvSpPr>
          <p:cNvPr id="27" name="Text 25"/>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B34"/>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Use case 2 — Reliable counterparty discovery</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BBD4E6"/>
                </a:solidFill>
                <a:latin typeface="Aptos" pitchFamily="34" charset="0"/>
                <a:ea typeface="Aptos" pitchFamily="34" charset="-122"/>
                <a:cs typeface="Aptos" pitchFamily="34" charset="-120"/>
              </a:rPr>
              <a:t>From generic lists to evidence-based targets.</a:t>
            </a:r>
            <a:endParaRPr lang="en-US" sz="1180" dirty="0"/>
          </a:p>
        </p:txBody>
      </p:sp>
      <p:sp>
        <p:nvSpPr>
          <p:cNvPr id="4" name="Shape 2"/>
          <p:cNvSpPr/>
          <p:nvPr/>
        </p:nvSpPr>
        <p:spPr>
          <a:xfrm>
            <a:off x="914400" y="1691640"/>
            <a:ext cx="2240280" cy="2606040"/>
          </a:xfrm>
          <a:prstGeom prst="roundRect">
            <a:avLst>
              <a:gd name="adj" fmla="val 5714"/>
            </a:avLst>
          </a:prstGeom>
          <a:solidFill>
            <a:srgbClr val="0B2746"/>
          </a:solidFill>
          <a:ln w="12700">
            <a:solidFill>
              <a:srgbClr val="28526E"/>
            </a:solidFill>
            <a:prstDash val="solid"/>
          </a:ln>
        </p:spPr>
        <p:txBody>
          <a:bodyPr/>
          <a:lstStyle/>
          <a:p>
            <a:endParaRPr lang="en-GB"/>
          </a:p>
        </p:txBody>
      </p:sp>
      <p:sp>
        <p:nvSpPr>
          <p:cNvPr id="5" name="Text 3"/>
          <p:cNvSpPr/>
          <p:nvPr/>
        </p:nvSpPr>
        <p:spPr>
          <a:xfrm>
            <a:off x="1051560" y="1965960"/>
            <a:ext cx="1965960"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Universe</a:t>
            </a:r>
            <a:endParaRPr lang="en-US" sz="2000" dirty="0"/>
          </a:p>
        </p:txBody>
      </p:sp>
      <p:sp>
        <p:nvSpPr>
          <p:cNvPr id="6" name="Text 4"/>
          <p:cNvSpPr/>
          <p:nvPr/>
        </p:nvSpPr>
        <p:spPr>
          <a:xfrm>
            <a:off x="1097280" y="2743200"/>
            <a:ext cx="1874520" cy="438912"/>
          </a:xfrm>
          <a:prstGeom prst="rect">
            <a:avLst/>
          </a:prstGeom>
          <a:noFill/>
          <a:ln/>
        </p:spPr>
        <p:txBody>
          <a:bodyPr wrap="square" lIns="254" tIns="254" rIns="254" bIns="254" rtlCol="0" anchor="ctr">
            <a:normAutofit/>
          </a:bodyPr>
          <a:lstStyle/>
          <a:p>
            <a:pPr marL="0" indent="0" algn="ctr">
              <a:buNone/>
            </a:pPr>
            <a:r>
              <a:rPr lang="en-US" sz="1280" dirty="0">
                <a:solidFill>
                  <a:srgbClr val="E8F4FA"/>
                </a:solidFill>
                <a:latin typeface="Aptos" pitchFamily="34" charset="0"/>
                <a:ea typeface="Aptos" pitchFamily="34" charset="-122"/>
                <a:cs typeface="Aptos" pitchFamily="34" charset="-120"/>
              </a:rPr>
              <a:t>Many possible companies</a:t>
            </a:r>
            <a:endParaRPr lang="en-US" sz="1280" dirty="0"/>
          </a:p>
        </p:txBody>
      </p:sp>
      <p:sp>
        <p:nvSpPr>
          <p:cNvPr id="7" name="Shape 5"/>
          <p:cNvSpPr/>
          <p:nvPr/>
        </p:nvSpPr>
        <p:spPr>
          <a:xfrm>
            <a:off x="3520440" y="1764792"/>
            <a:ext cx="2130552" cy="2459736"/>
          </a:xfrm>
          <a:prstGeom prst="roundRect">
            <a:avLst>
              <a:gd name="adj" fmla="val 6009"/>
            </a:avLst>
          </a:prstGeom>
          <a:solidFill>
            <a:srgbClr val="0B3A66"/>
          </a:solidFill>
          <a:ln w="12700">
            <a:solidFill>
              <a:srgbClr val="2C5F80"/>
            </a:solidFill>
            <a:prstDash val="solid"/>
          </a:ln>
        </p:spPr>
        <p:txBody>
          <a:bodyPr/>
          <a:lstStyle/>
          <a:p>
            <a:endParaRPr lang="en-GB"/>
          </a:p>
        </p:txBody>
      </p:sp>
      <p:sp>
        <p:nvSpPr>
          <p:cNvPr id="8" name="Text 6"/>
          <p:cNvSpPr/>
          <p:nvPr/>
        </p:nvSpPr>
        <p:spPr>
          <a:xfrm>
            <a:off x="3657600" y="2039112"/>
            <a:ext cx="185623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Fit</a:t>
            </a:r>
            <a:endParaRPr lang="en-US" sz="2000" dirty="0"/>
          </a:p>
        </p:txBody>
      </p:sp>
      <p:sp>
        <p:nvSpPr>
          <p:cNvPr id="9" name="Text 7"/>
          <p:cNvSpPr/>
          <p:nvPr/>
        </p:nvSpPr>
        <p:spPr>
          <a:xfrm>
            <a:off x="3703320" y="2816352"/>
            <a:ext cx="1764792" cy="438912"/>
          </a:xfrm>
          <a:prstGeom prst="rect">
            <a:avLst/>
          </a:prstGeom>
          <a:noFill/>
          <a:ln/>
        </p:spPr>
        <p:txBody>
          <a:bodyPr wrap="square" lIns="254" tIns="254" rIns="254" bIns="254" rtlCol="0" anchor="ctr">
            <a:normAutofit/>
          </a:bodyPr>
          <a:lstStyle/>
          <a:p>
            <a:pPr marL="0" indent="0" algn="ctr">
              <a:buNone/>
            </a:pPr>
            <a:r>
              <a:rPr lang="en-US" sz="1280" dirty="0">
                <a:solidFill>
                  <a:srgbClr val="E8F4FA"/>
                </a:solidFill>
                <a:latin typeface="Aptos" pitchFamily="34" charset="0"/>
                <a:ea typeface="Aptos" pitchFamily="34" charset="-122"/>
                <a:cs typeface="Aptos" pitchFamily="34" charset="-120"/>
              </a:rPr>
              <a:t>Country · product · trade lane</a:t>
            </a:r>
            <a:endParaRPr lang="en-US" sz="1280" dirty="0"/>
          </a:p>
        </p:txBody>
      </p:sp>
      <p:sp>
        <p:nvSpPr>
          <p:cNvPr id="10" name="Shape 8"/>
          <p:cNvSpPr/>
          <p:nvPr/>
        </p:nvSpPr>
        <p:spPr>
          <a:xfrm>
            <a:off x="6126480" y="1837944"/>
            <a:ext cx="2020824" cy="2313432"/>
          </a:xfrm>
          <a:prstGeom prst="roundRect">
            <a:avLst>
              <a:gd name="adj" fmla="val 6335"/>
            </a:avLst>
          </a:prstGeom>
          <a:solidFill>
            <a:srgbClr val="0E6BA8"/>
          </a:solidFill>
          <a:ln w="12700">
            <a:solidFill>
              <a:srgbClr val="1680B8"/>
            </a:solidFill>
            <a:prstDash val="solid"/>
          </a:ln>
        </p:spPr>
        <p:txBody>
          <a:bodyPr/>
          <a:lstStyle/>
          <a:p>
            <a:endParaRPr lang="en-GB"/>
          </a:p>
        </p:txBody>
      </p:sp>
      <p:sp>
        <p:nvSpPr>
          <p:cNvPr id="11" name="Text 9"/>
          <p:cNvSpPr/>
          <p:nvPr/>
        </p:nvSpPr>
        <p:spPr>
          <a:xfrm>
            <a:off x="6263640" y="2112264"/>
            <a:ext cx="1746504"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Evidence</a:t>
            </a:r>
            <a:endParaRPr lang="en-US" sz="2000" dirty="0"/>
          </a:p>
        </p:txBody>
      </p:sp>
      <p:sp>
        <p:nvSpPr>
          <p:cNvPr id="12" name="Text 10"/>
          <p:cNvSpPr/>
          <p:nvPr/>
        </p:nvSpPr>
        <p:spPr>
          <a:xfrm>
            <a:off x="6309360" y="2889504"/>
            <a:ext cx="1655064" cy="438912"/>
          </a:xfrm>
          <a:prstGeom prst="rect">
            <a:avLst/>
          </a:prstGeom>
          <a:noFill/>
          <a:ln/>
        </p:spPr>
        <p:txBody>
          <a:bodyPr wrap="square" lIns="254" tIns="254" rIns="254" bIns="254" rtlCol="0" anchor="ctr">
            <a:normAutofit/>
          </a:bodyPr>
          <a:lstStyle/>
          <a:p>
            <a:pPr marL="0" indent="0" algn="ctr">
              <a:buNone/>
            </a:pPr>
            <a:r>
              <a:rPr lang="en-US" sz="1280" dirty="0">
                <a:solidFill>
                  <a:srgbClr val="E8F4FA"/>
                </a:solidFill>
                <a:latin typeface="Aptos" pitchFamily="34" charset="0"/>
                <a:ea typeface="Aptos" pitchFamily="34" charset="-122"/>
                <a:cs typeface="Aptos" pitchFamily="34" charset="-120"/>
              </a:rPr>
              <a:t>Activity · volume · patterns</a:t>
            </a:r>
            <a:endParaRPr lang="en-US" sz="1280" dirty="0"/>
          </a:p>
        </p:txBody>
      </p:sp>
      <p:sp>
        <p:nvSpPr>
          <p:cNvPr id="13" name="Shape 11"/>
          <p:cNvSpPr/>
          <p:nvPr/>
        </p:nvSpPr>
        <p:spPr>
          <a:xfrm>
            <a:off x="8732520" y="1911096"/>
            <a:ext cx="1911096" cy="2167128"/>
          </a:xfrm>
          <a:prstGeom prst="roundRect">
            <a:avLst>
              <a:gd name="adj" fmla="val 6699"/>
            </a:avLst>
          </a:prstGeom>
          <a:solidFill>
            <a:srgbClr val="00A99D"/>
          </a:solidFill>
          <a:ln w="12700">
            <a:solidFill>
              <a:srgbClr val="00A99D"/>
            </a:solidFill>
            <a:prstDash val="solid"/>
          </a:ln>
        </p:spPr>
        <p:txBody>
          <a:bodyPr/>
          <a:lstStyle/>
          <a:p>
            <a:endParaRPr lang="en-GB"/>
          </a:p>
        </p:txBody>
      </p:sp>
      <p:sp>
        <p:nvSpPr>
          <p:cNvPr id="14" name="Text 12"/>
          <p:cNvSpPr/>
          <p:nvPr/>
        </p:nvSpPr>
        <p:spPr>
          <a:xfrm>
            <a:off x="8869680" y="2185416"/>
            <a:ext cx="1636776"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Display" pitchFamily="34" charset="0"/>
                <a:ea typeface="Aptos Display" pitchFamily="34" charset="-122"/>
                <a:cs typeface="Aptos Display" pitchFamily="34" charset="-120"/>
              </a:rPr>
              <a:t>Priority</a:t>
            </a:r>
            <a:endParaRPr lang="en-US" sz="2000" dirty="0"/>
          </a:p>
        </p:txBody>
      </p:sp>
      <p:sp>
        <p:nvSpPr>
          <p:cNvPr id="15" name="Text 13"/>
          <p:cNvSpPr/>
          <p:nvPr/>
        </p:nvSpPr>
        <p:spPr>
          <a:xfrm>
            <a:off x="8915400" y="2962656"/>
            <a:ext cx="1545336" cy="438912"/>
          </a:xfrm>
          <a:prstGeom prst="rect">
            <a:avLst/>
          </a:prstGeom>
          <a:noFill/>
          <a:ln/>
        </p:spPr>
        <p:txBody>
          <a:bodyPr wrap="square" lIns="254" tIns="254" rIns="254" bIns="254" rtlCol="0" anchor="ctr">
            <a:normAutofit/>
          </a:bodyPr>
          <a:lstStyle/>
          <a:p>
            <a:pPr marL="0" indent="0" algn="ctr">
              <a:buNone/>
            </a:pPr>
            <a:r>
              <a:rPr lang="en-US" sz="1280" dirty="0">
                <a:solidFill>
                  <a:srgbClr val="E8F4FA"/>
                </a:solidFill>
                <a:latin typeface="Aptos" pitchFamily="34" charset="0"/>
                <a:ea typeface="Aptos" pitchFamily="34" charset="-122"/>
                <a:cs typeface="Aptos" pitchFamily="34" charset="-120"/>
              </a:rPr>
              <a:t>Best first contacts</a:t>
            </a:r>
            <a:endParaRPr lang="en-US" sz="1280" dirty="0"/>
          </a:p>
        </p:txBody>
      </p:sp>
      <p:sp>
        <p:nvSpPr>
          <p:cNvPr id="16" name="Shape 14"/>
          <p:cNvSpPr/>
          <p:nvPr/>
        </p:nvSpPr>
        <p:spPr>
          <a:xfrm>
            <a:off x="868680" y="4983480"/>
            <a:ext cx="10424160" cy="822960"/>
          </a:xfrm>
          <a:prstGeom prst="roundRect">
            <a:avLst>
              <a:gd name="adj" fmla="val 15556"/>
            </a:avLst>
          </a:prstGeom>
          <a:solidFill>
            <a:srgbClr val="082B52"/>
          </a:solidFill>
          <a:ln w="12700">
            <a:solidFill>
              <a:srgbClr val="27516E"/>
            </a:solidFill>
            <a:prstDash val="solid"/>
          </a:ln>
        </p:spPr>
        <p:txBody>
          <a:bodyPr/>
          <a:lstStyle/>
          <a:p>
            <a:endParaRPr lang="en-GB"/>
          </a:p>
        </p:txBody>
      </p:sp>
      <p:sp>
        <p:nvSpPr>
          <p:cNvPr id="17" name="Text 15"/>
          <p:cNvSpPr/>
          <p:nvPr/>
        </p:nvSpPr>
        <p:spPr>
          <a:xfrm>
            <a:off x="1143000" y="5230368"/>
            <a:ext cx="2011680" cy="201168"/>
          </a:xfrm>
          <a:prstGeom prst="rect">
            <a:avLst/>
          </a:prstGeom>
          <a:noFill/>
          <a:ln/>
        </p:spPr>
        <p:txBody>
          <a:bodyPr wrap="square" lIns="0" tIns="0" rIns="0" bIns="0" rtlCol="0" anchor="ctr"/>
          <a:lstStyle/>
          <a:p>
            <a:pPr marL="0" indent="0">
              <a:buNone/>
            </a:pPr>
            <a:r>
              <a:rPr lang="en-US" sz="1200" b="1" dirty="0">
                <a:solidFill>
                  <a:srgbClr val="00A99D"/>
                </a:solidFill>
                <a:latin typeface="Aptos" pitchFamily="34" charset="0"/>
                <a:ea typeface="Aptos" pitchFamily="34" charset="-122"/>
                <a:cs typeface="Aptos" pitchFamily="34" charset="-120"/>
              </a:rPr>
              <a:t>Good discovery question</a:t>
            </a:r>
            <a:endParaRPr lang="en-US" sz="1200" dirty="0"/>
          </a:p>
        </p:txBody>
      </p:sp>
      <p:sp>
        <p:nvSpPr>
          <p:cNvPr id="18" name="Text 16"/>
          <p:cNvSpPr/>
          <p:nvPr/>
        </p:nvSpPr>
        <p:spPr>
          <a:xfrm>
            <a:off x="3310128" y="5193792"/>
            <a:ext cx="7406640" cy="256032"/>
          </a:xfrm>
          <a:prstGeom prst="rect">
            <a:avLst/>
          </a:prstGeom>
          <a:noFill/>
          <a:ln/>
        </p:spPr>
        <p:txBody>
          <a:bodyPr wrap="square" lIns="254" tIns="254" rIns="254" bIns="254" rtlCol="0" anchor="ctr"/>
          <a:lstStyle/>
          <a:p>
            <a:pPr marL="0" indent="0">
              <a:buNone/>
            </a:pPr>
            <a:r>
              <a:rPr lang="en-US" sz="1650" b="1" dirty="0">
                <a:solidFill>
                  <a:srgbClr val="FFFFFF"/>
                </a:solidFill>
                <a:latin typeface="Aptos Display" pitchFamily="34" charset="0"/>
                <a:ea typeface="Aptos Display" pitchFamily="34" charset="-122"/>
                <a:cs typeface="Aptos Display" pitchFamily="34" charset="-120"/>
              </a:rPr>
              <a:t>“Which buyer, supplier or importer would be valuable if we could validate activity and relevance before outreach?”</a:t>
            </a:r>
            <a:endParaRPr lang="en-US" sz="1650" dirty="0"/>
          </a:p>
        </p:txBody>
      </p:sp>
      <p:sp>
        <p:nvSpPr>
          <p:cNvPr id="19" name="Text 17"/>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D9EAF4"/>
                </a:solidFill>
                <a:latin typeface="Aptos" pitchFamily="34" charset="0"/>
                <a:ea typeface="Aptos" pitchFamily="34" charset="-122"/>
                <a:cs typeface="Aptos" pitchFamily="34" charset="-120"/>
              </a:rPr>
              <a:t>ADAMftd Affiliate Kit · ADAMftd.com</a:t>
            </a:r>
            <a:endParaRPr lang="en-US" sz="850" dirty="0"/>
          </a:p>
        </p:txBody>
      </p:sp>
      <p:sp>
        <p:nvSpPr>
          <p:cNvPr id="20" name="Text 18"/>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D9EAF4"/>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Use case 3 — Market reviews and analysis</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64748B"/>
                </a:solidFill>
                <a:latin typeface="Aptos" pitchFamily="34" charset="0"/>
                <a:ea typeface="Aptos" pitchFamily="34" charset="-122"/>
                <a:cs typeface="Aptos" pitchFamily="34" charset="-120"/>
              </a:rPr>
              <a:t>Give the customer a structured view of where to sell, source or invest attention.</a:t>
            </a:r>
            <a:endParaRPr lang="en-US" sz="1180" dirty="0"/>
          </a:p>
        </p:txBody>
      </p:sp>
      <p:sp>
        <p:nvSpPr>
          <p:cNvPr id="4" name="Shape 2"/>
          <p:cNvSpPr/>
          <p:nvPr/>
        </p:nvSpPr>
        <p:spPr>
          <a:xfrm>
            <a:off x="640080" y="1325880"/>
            <a:ext cx="3657600" cy="4251960"/>
          </a:xfrm>
          <a:prstGeom prst="roundRect">
            <a:avLst>
              <a:gd name="adj" fmla="val 4000"/>
            </a:avLst>
          </a:prstGeom>
          <a:solidFill>
            <a:srgbClr val="FFFFFF"/>
          </a:solidFill>
          <a:ln w="12700">
            <a:solidFill>
              <a:srgbClr val="D8E4EE"/>
            </a:solidFill>
            <a:prstDash val="solid"/>
          </a:ln>
        </p:spPr>
        <p:txBody>
          <a:bodyPr/>
          <a:lstStyle/>
          <a:p>
            <a:endParaRPr lang="en-GB"/>
          </a:p>
        </p:txBody>
      </p:sp>
      <p:sp>
        <p:nvSpPr>
          <p:cNvPr id="5" name="Text 3"/>
          <p:cNvSpPr/>
          <p:nvPr/>
        </p:nvSpPr>
        <p:spPr>
          <a:xfrm>
            <a:off x="914400" y="1627632"/>
            <a:ext cx="2926080" cy="274320"/>
          </a:xfrm>
          <a:prstGeom prst="rect">
            <a:avLst/>
          </a:prstGeom>
          <a:noFill/>
          <a:ln/>
        </p:spPr>
        <p:txBody>
          <a:bodyPr wrap="square" lIns="0" tIns="0" rIns="0" bIns="0" rtlCol="0" anchor="ctr"/>
          <a:lstStyle/>
          <a:p>
            <a:pPr marL="0" indent="0">
              <a:buNone/>
            </a:pPr>
            <a:r>
              <a:rPr lang="en-US" sz="2100" b="1" dirty="0">
                <a:solidFill>
                  <a:srgbClr val="0B1F33"/>
                </a:solidFill>
                <a:latin typeface="Aptos Display" pitchFamily="34" charset="0"/>
                <a:ea typeface="Aptos Display" pitchFamily="34" charset="-122"/>
                <a:cs typeface="Aptos Display" pitchFamily="34" charset="-120"/>
              </a:rPr>
              <a:t>Market review lens</a:t>
            </a:r>
            <a:endParaRPr lang="en-US" sz="2100" dirty="0"/>
          </a:p>
        </p:txBody>
      </p:sp>
      <p:sp>
        <p:nvSpPr>
          <p:cNvPr id="6" name="Shape 4"/>
          <p:cNvSpPr/>
          <p:nvPr/>
        </p:nvSpPr>
        <p:spPr>
          <a:xfrm>
            <a:off x="932688" y="2203704"/>
            <a:ext cx="54864" cy="54864"/>
          </a:xfrm>
          <a:prstGeom prst="ellipse">
            <a:avLst/>
          </a:prstGeom>
          <a:solidFill>
            <a:srgbClr val="00A99D"/>
          </a:solidFill>
          <a:ln w="12700">
            <a:solidFill>
              <a:srgbClr val="00A99D"/>
            </a:solidFill>
            <a:prstDash val="solid"/>
          </a:ln>
        </p:spPr>
        <p:txBody>
          <a:bodyPr/>
          <a:lstStyle/>
          <a:p>
            <a:endParaRPr lang="en-GB"/>
          </a:p>
        </p:txBody>
      </p:sp>
      <p:sp>
        <p:nvSpPr>
          <p:cNvPr id="7" name="Text 5"/>
          <p:cNvSpPr/>
          <p:nvPr/>
        </p:nvSpPr>
        <p:spPr>
          <a:xfrm>
            <a:off x="1078992" y="2148840"/>
            <a:ext cx="2971800" cy="292608"/>
          </a:xfrm>
          <a:prstGeom prst="rect">
            <a:avLst/>
          </a:prstGeom>
          <a:noFill/>
          <a:ln/>
        </p:spPr>
        <p:txBody>
          <a:bodyPr wrap="square" lIns="254" tIns="254" rIns="254" bIns="254" rtlCol="0" anchor="ctr">
            <a:normAutofit/>
          </a:bodyPr>
          <a:lstStyle/>
          <a:p>
            <a:pPr marL="0" indent="0">
              <a:buNone/>
            </a:pPr>
            <a:r>
              <a:rPr lang="en-US" sz="1380" dirty="0">
                <a:solidFill>
                  <a:srgbClr val="0B1F33"/>
                </a:solidFill>
                <a:latin typeface="Aptos" pitchFamily="34" charset="0"/>
                <a:ea typeface="Aptos" pitchFamily="34" charset="-122"/>
                <a:cs typeface="Aptos" pitchFamily="34" charset="-120"/>
              </a:rPr>
              <a:t>Market size and demand</a:t>
            </a:r>
            <a:endParaRPr lang="en-US" sz="1380" dirty="0"/>
          </a:p>
        </p:txBody>
      </p:sp>
      <p:sp>
        <p:nvSpPr>
          <p:cNvPr id="8" name="Shape 6"/>
          <p:cNvSpPr/>
          <p:nvPr/>
        </p:nvSpPr>
        <p:spPr>
          <a:xfrm>
            <a:off x="932688" y="2715768"/>
            <a:ext cx="54864" cy="54864"/>
          </a:xfrm>
          <a:prstGeom prst="ellipse">
            <a:avLst/>
          </a:prstGeom>
          <a:solidFill>
            <a:srgbClr val="00A99D"/>
          </a:solidFill>
          <a:ln w="12700">
            <a:solidFill>
              <a:srgbClr val="00A99D"/>
            </a:solidFill>
            <a:prstDash val="solid"/>
          </a:ln>
        </p:spPr>
        <p:txBody>
          <a:bodyPr/>
          <a:lstStyle/>
          <a:p>
            <a:endParaRPr lang="en-GB"/>
          </a:p>
        </p:txBody>
      </p:sp>
      <p:sp>
        <p:nvSpPr>
          <p:cNvPr id="9" name="Text 7"/>
          <p:cNvSpPr/>
          <p:nvPr/>
        </p:nvSpPr>
        <p:spPr>
          <a:xfrm>
            <a:off x="1078992" y="2660904"/>
            <a:ext cx="2971800" cy="292608"/>
          </a:xfrm>
          <a:prstGeom prst="rect">
            <a:avLst/>
          </a:prstGeom>
          <a:noFill/>
          <a:ln/>
        </p:spPr>
        <p:txBody>
          <a:bodyPr wrap="square" lIns="254" tIns="254" rIns="254" bIns="254" rtlCol="0" anchor="ctr">
            <a:normAutofit/>
          </a:bodyPr>
          <a:lstStyle/>
          <a:p>
            <a:pPr marL="0" indent="0">
              <a:buNone/>
            </a:pPr>
            <a:r>
              <a:rPr lang="en-US" sz="1380" dirty="0">
                <a:solidFill>
                  <a:srgbClr val="0B1F33"/>
                </a:solidFill>
                <a:latin typeface="Aptos" pitchFamily="34" charset="0"/>
                <a:ea typeface="Aptos" pitchFamily="34" charset="-122"/>
                <a:cs typeface="Aptos" pitchFamily="34" charset="-120"/>
              </a:rPr>
              <a:t>Buyer / supplier concentration</a:t>
            </a:r>
            <a:endParaRPr lang="en-US" sz="1380" dirty="0"/>
          </a:p>
        </p:txBody>
      </p:sp>
      <p:sp>
        <p:nvSpPr>
          <p:cNvPr id="10" name="Shape 8"/>
          <p:cNvSpPr/>
          <p:nvPr/>
        </p:nvSpPr>
        <p:spPr>
          <a:xfrm>
            <a:off x="932688" y="3227832"/>
            <a:ext cx="54864" cy="54864"/>
          </a:xfrm>
          <a:prstGeom prst="ellipse">
            <a:avLst/>
          </a:prstGeom>
          <a:solidFill>
            <a:srgbClr val="00A99D"/>
          </a:solidFill>
          <a:ln w="12700">
            <a:solidFill>
              <a:srgbClr val="00A99D"/>
            </a:solidFill>
            <a:prstDash val="solid"/>
          </a:ln>
        </p:spPr>
        <p:txBody>
          <a:bodyPr/>
          <a:lstStyle/>
          <a:p>
            <a:endParaRPr lang="en-GB"/>
          </a:p>
        </p:txBody>
      </p:sp>
      <p:sp>
        <p:nvSpPr>
          <p:cNvPr id="11" name="Text 9"/>
          <p:cNvSpPr/>
          <p:nvPr/>
        </p:nvSpPr>
        <p:spPr>
          <a:xfrm>
            <a:off x="1078992" y="3172968"/>
            <a:ext cx="2971800" cy="292608"/>
          </a:xfrm>
          <a:prstGeom prst="rect">
            <a:avLst/>
          </a:prstGeom>
          <a:noFill/>
          <a:ln/>
        </p:spPr>
        <p:txBody>
          <a:bodyPr wrap="square" lIns="254" tIns="254" rIns="254" bIns="254" rtlCol="0" anchor="ctr">
            <a:normAutofit/>
          </a:bodyPr>
          <a:lstStyle/>
          <a:p>
            <a:pPr marL="0" indent="0">
              <a:buNone/>
            </a:pPr>
            <a:r>
              <a:rPr lang="en-US" sz="1380" dirty="0">
                <a:solidFill>
                  <a:srgbClr val="0B1F33"/>
                </a:solidFill>
                <a:latin typeface="Aptos" pitchFamily="34" charset="0"/>
                <a:ea typeface="Aptos" pitchFamily="34" charset="-122"/>
                <a:cs typeface="Aptos" pitchFamily="34" charset="-120"/>
              </a:rPr>
              <a:t>Seasonality and trends</a:t>
            </a:r>
            <a:endParaRPr lang="en-US" sz="1380" dirty="0"/>
          </a:p>
        </p:txBody>
      </p:sp>
      <p:sp>
        <p:nvSpPr>
          <p:cNvPr id="12" name="Shape 10"/>
          <p:cNvSpPr/>
          <p:nvPr/>
        </p:nvSpPr>
        <p:spPr>
          <a:xfrm>
            <a:off x="932688" y="3739896"/>
            <a:ext cx="54864" cy="54864"/>
          </a:xfrm>
          <a:prstGeom prst="ellipse">
            <a:avLst/>
          </a:prstGeom>
          <a:solidFill>
            <a:srgbClr val="00A99D"/>
          </a:solidFill>
          <a:ln w="12700">
            <a:solidFill>
              <a:srgbClr val="00A99D"/>
            </a:solidFill>
            <a:prstDash val="solid"/>
          </a:ln>
        </p:spPr>
        <p:txBody>
          <a:bodyPr/>
          <a:lstStyle/>
          <a:p>
            <a:endParaRPr lang="en-GB"/>
          </a:p>
        </p:txBody>
      </p:sp>
      <p:sp>
        <p:nvSpPr>
          <p:cNvPr id="13" name="Text 11"/>
          <p:cNvSpPr/>
          <p:nvPr/>
        </p:nvSpPr>
        <p:spPr>
          <a:xfrm>
            <a:off x="1078992" y="3685032"/>
            <a:ext cx="2971800" cy="292608"/>
          </a:xfrm>
          <a:prstGeom prst="rect">
            <a:avLst/>
          </a:prstGeom>
          <a:noFill/>
          <a:ln/>
        </p:spPr>
        <p:txBody>
          <a:bodyPr wrap="square" lIns="254" tIns="254" rIns="254" bIns="254" rtlCol="0" anchor="ctr">
            <a:normAutofit/>
          </a:bodyPr>
          <a:lstStyle/>
          <a:p>
            <a:pPr marL="0" indent="0">
              <a:buNone/>
            </a:pPr>
            <a:r>
              <a:rPr lang="en-US" sz="1380" dirty="0">
                <a:solidFill>
                  <a:srgbClr val="0B1F33"/>
                </a:solidFill>
                <a:latin typeface="Aptos" pitchFamily="34" charset="0"/>
                <a:ea typeface="Aptos" pitchFamily="34" charset="-122"/>
                <a:cs typeface="Aptos" pitchFamily="34" charset="-120"/>
              </a:rPr>
              <a:t>Competitive positioning</a:t>
            </a:r>
            <a:endParaRPr lang="en-US" sz="1380" dirty="0"/>
          </a:p>
        </p:txBody>
      </p:sp>
      <p:sp>
        <p:nvSpPr>
          <p:cNvPr id="14" name="Shape 12"/>
          <p:cNvSpPr/>
          <p:nvPr/>
        </p:nvSpPr>
        <p:spPr>
          <a:xfrm>
            <a:off x="932688" y="4251960"/>
            <a:ext cx="54864" cy="54864"/>
          </a:xfrm>
          <a:prstGeom prst="ellipse">
            <a:avLst/>
          </a:prstGeom>
          <a:solidFill>
            <a:srgbClr val="00A99D"/>
          </a:solidFill>
          <a:ln w="12700">
            <a:solidFill>
              <a:srgbClr val="00A99D"/>
            </a:solidFill>
            <a:prstDash val="solid"/>
          </a:ln>
        </p:spPr>
        <p:txBody>
          <a:bodyPr/>
          <a:lstStyle/>
          <a:p>
            <a:endParaRPr lang="en-GB"/>
          </a:p>
        </p:txBody>
      </p:sp>
      <p:sp>
        <p:nvSpPr>
          <p:cNvPr id="15" name="Text 13"/>
          <p:cNvSpPr/>
          <p:nvPr/>
        </p:nvSpPr>
        <p:spPr>
          <a:xfrm>
            <a:off x="1078992" y="4197096"/>
            <a:ext cx="2971800" cy="292608"/>
          </a:xfrm>
          <a:prstGeom prst="rect">
            <a:avLst/>
          </a:prstGeom>
          <a:noFill/>
          <a:ln/>
        </p:spPr>
        <p:txBody>
          <a:bodyPr wrap="square" lIns="254" tIns="254" rIns="254" bIns="254" rtlCol="0" anchor="ctr">
            <a:normAutofit/>
          </a:bodyPr>
          <a:lstStyle/>
          <a:p>
            <a:pPr marL="0" indent="0">
              <a:buNone/>
            </a:pPr>
            <a:r>
              <a:rPr lang="en-US" sz="1380" dirty="0">
                <a:solidFill>
                  <a:srgbClr val="0B1F33"/>
                </a:solidFill>
                <a:latin typeface="Aptos" pitchFamily="34" charset="0"/>
                <a:ea typeface="Aptos" pitchFamily="34" charset="-122"/>
                <a:cs typeface="Aptos" pitchFamily="34" charset="-120"/>
              </a:rPr>
              <a:t>Entry barriers and requirements</a:t>
            </a:r>
            <a:endParaRPr lang="en-US" sz="1380" dirty="0"/>
          </a:p>
        </p:txBody>
      </p:sp>
      <p:sp>
        <p:nvSpPr>
          <p:cNvPr id="16" name="Shape 14"/>
          <p:cNvSpPr/>
          <p:nvPr/>
        </p:nvSpPr>
        <p:spPr>
          <a:xfrm>
            <a:off x="4663440" y="1325880"/>
            <a:ext cx="6858000" cy="4251960"/>
          </a:xfrm>
          <a:prstGeom prst="roundRect">
            <a:avLst>
              <a:gd name="adj" fmla="val 3441"/>
            </a:avLst>
          </a:prstGeom>
          <a:solidFill>
            <a:srgbClr val="E9FBF8"/>
          </a:solidFill>
          <a:ln w="12700">
            <a:solidFill>
              <a:srgbClr val="B8E8E0"/>
            </a:solidFill>
            <a:prstDash val="solid"/>
          </a:ln>
        </p:spPr>
        <p:txBody>
          <a:bodyPr/>
          <a:lstStyle/>
          <a:p>
            <a:endParaRPr lang="en-GB"/>
          </a:p>
        </p:txBody>
      </p:sp>
      <p:sp>
        <p:nvSpPr>
          <p:cNvPr id="17" name="Text 15"/>
          <p:cNvSpPr/>
          <p:nvPr/>
        </p:nvSpPr>
        <p:spPr>
          <a:xfrm>
            <a:off x="5074920" y="1627632"/>
            <a:ext cx="5943600" cy="274320"/>
          </a:xfrm>
          <a:prstGeom prst="rect">
            <a:avLst/>
          </a:prstGeom>
          <a:noFill/>
          <a:ln/>
        </p:spPr>
        <p:txBody>
          <a:bodyPr wrap="square" lIns="0" tIns="0" rIns="0" bIns="0" rtlCol="0" anchor="ctr"/>
          <a:lstStyle/>
          <a:p>
            <a:pPr marL="0" indent="0">
              <a:buNone/>
            </a:pPr>
            <a:r>
              <a:rPr lang="en-US" sz="2100" b="1" dirty="0">
                <a:solidFill>
                  <a:srgbClr val="0B1F33"/>
                </a:solidFill>
                <a:latin typeface="Aptos Display" pitchFamily="34" charset="0"/>
                <a:ea typeface="Aptos Display" pitchFamily="34" charset="-122"/>
                <a:cs typeface="Aptos Display" pitchFamily="34" charset="-120"/>
              </a:rPr>
              <a:t>Affiliate pitch</a:t>
            </a:r>
            <a:endParaRPr lang="en-US" sz="2100" dirty="0"/>
          </a:p>
        </p:txBody>
      </p:sp>
      <p:sp>
        <p:nvSpPr>
          <p:cNvPr id="18" name="Text 16"/>
          <p:cNvSpPr/>
          <p:nvPr/>
        </p:nvSpPr>
        <p:spPr>
          <a:xfrm>
            <a:off x="5074920" y="2148840"/>
            <a:ext cx="5760720" cy="694944"/>
          </a:xfrm>
          <a:prstGeom prst="rect">
            <a:avLst/>
          </a:prstGeom>
          <a:noFill/>
          <a:ln/>
        </p:spPr>
        <p:txBody>
          <a:bodyPr wrap="square" lIns="127" tIns="127" rIns="127" bIns="127" rtlCol="0" anchor="ctr">
            <a:normAutofit/>
          </a:bodyPr>
          <a:lstStyle/>
          <a:p>
            <a:pPr marL="0" indent="0">
              <a:buNone/>
            </a:pPr>
            <a:r>
              <a:rPr lang="en-US" sz="1800" b="1" dirty="0">
                <a:solidFill>
                  <a:srgbClr val="0B1F33"/>
                </a:solidFill>
                <a:latin typeface="Aptos Display" pitchFamily="34" charset="0"/>
                <a:ea typeface="Aptos Display" pitchFamily="34" charset="-122"/>
                <a:cs typeface="Aptos Display" pitchFamily="34" charset="-120"/>
              </a:rPr>
              <a:t>“Instead of guessing whether a market is worth entering, use ADAMftd to build a practical market review from trade flows, company activity, tariffs, tenders and risk signals.”</a:t>
            </a:r>
            <a:endParaRPr lang="en-US" sz="1800" dirty="0"/>
          </a:p>
        </p:txBody>
      </p:sp>
      <p:sp>
        <p:nvSpPr>
          <p:cNvPr id="19" name="Shape 17"/>
          <p:cNvSpPr/>
          <p:nvPr/>
        </p:nvSpPr>
        <p:spPr>
          <a:xfrm>
            <a:off x="5074920" y="3246120"/>
            <a:ext cx="5715000" cy="0"/>
          </a:xfrm>
          <a:prstGeom prst="line">
            <a:avLst/>
          </a:prstGeom>
          <a:noFill/>
          <a:ln w="25400">
            <a:solidFill>
              <a:srgbClr val="00A99D"/>
            </a:solidFill>
            <a:prstDash val="solid"/>
          </a:ln>
        </p:spPr>
        <p:txBody>
          <a:bodyPr/>
          <a:lstStyle/>
          <a:p>
            <a:endParaRPr lang="en-GB"/>
          </a:p>
        </p:txBody>
      </p:sp>
      <p:sp>
        <p:nvSpPr>
          <p:cNvPr id="20" name="Text 18"/>
          <p:cNvSpPr/>
          <p:nvPr/>
        </p:nvSpPr>
        <p:spPr>
          <a:xfrm>
            <a:off x="5074920" y="3584448"/>
            <a:ext cx="5577840" cy="310896"/>
          </a:xfrm>
          <a:prstGeom prst="rect">
            <a:avLst/>
          </a:prstGeom>
          <a:noFill/>
          <a:ln/>
        </p:spPr>
        <p:txBody>
          <a:bodyPr wrap="square" lIns="0" tIns="0" rIns="0" bIns="0" rtlCol="0" anchor="ctr"/>
          <a:lstStyle/>
          <a:p>
            <a:pPr marL="0" indent="0">
              <a:buNone/>
            </a:pPr>
            <a:r>
              <a:rPr lang="en-US" sz="1400" dirty="0">
                <a:solidFill>
                  <a:srgbClr val="64748B"/>
                </a:solidFill>
                <a:latin typeface="Aptos" pitchFamily="34" charset="0"/>
                <a:ea typeface="Aptos" pitchFamily="34" charset="-122"/>
                <a:cs typeface="Aptos" pitchFamily="34" charset="-120"/>
              </a:rPr>
              <a:t>Best audience: exporters, importers, trade consultants, chambers, EDOs and sector associations.</a:t>
            </a:r>
            <a:endParaRPr lang="en-US" sz="1400" dirty="0"/>
          </a:p>
        </p:txBody>
      </p:sp>
      <p:sp>
        <p:nvSpPr>
          <p:cNvPr id="21" name="Text 19"/>
          <p:cNvSpPr/>
          <p:nvPr/>
        </p:nvSpPr>
        <p:spPr>
          <a:xfrm>
            <a:off x="5074920" y="4133088"/>
            <a:ext cx="5577840" cy="310896"/>
          </a:xfrm>
          <a:prstGeom prst="rect">
            <a:avLst/>
          </a:prstGeom>
          <a:noFill/>
          <a:ln/>
        </p:spPr>
        <p:txBody>
          <a:bodyPr wrap="square" lIns="0" tIns="0" rIns="0" bIns="0" rtlCol="0" anchor="ctr"/>
          <a:lstStyle/>
          <a:p>
            <a:pPr marL="0" indent="0">
              <a:buNone/>
            </a:pPr>
            <a:r>
              <a:rPr lang="en-US" sz="1400" b="1" dirty="0">
                <a:solidFill>
                  <a:srgbClr val="0B1F33"/>
                </a:solidFill>
                <a:latin typeface="Aptos" pitchFamily="34" charset="0"/>
                <a:ea typeface="Aptos" pitchFamily="34" charset="-122"/>
                <a:cs typeface="Aptos" pitchFamily="34" charset="-120"/>
              </a:rPr>
              <a:t>Best follow-up: “Which market should we test first?”</a:t>
            </a:r>
            <a:endParaRPr lang="en-US" sz="1400" dirty="0"/>
          </a:p>
        </p:txBody>
      </p:sp>
      <p:sp>
        <p:nvSpPr>
          <p:cNvPr id="22" name="Text 20"/>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ADAMftd Affiliate Kit · ADAMftd.com</a:t>
            </a:r>
            <a:endParaRPr lang="en-US" sz="850" dirty="0"/>
          </a:p>
        </p:txBody>
      </p:sp>
      <p:sp>
        <p:nvSpPr>
          <p:cNvPr id="23" name="Text 21"/>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B34"/>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Use case 4 — Price / tariff volatility</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BBD4E6"/>
                </a:solidFill>
                <a:latin typeface="Aptos" pitchFamily="34" charset="0"/>
                <a:ea typeface="Aptos" pitchFamily="34" charset="-122"/>
                <a:cs typeface="Aptos" pitchFamily="34" charset="-120"/>
              </a:rPr>
              <a:t>Protect margin before it disappears.</a:t>
            </a:r>
            <a:endParaRPr lang="en-US" sz="1180" dirty="0"/>
          </a:p>
        </p:txBody>
      </p:sp>
      <p:sp>
        <p:nvSpPr>
          <p:cNvPr id="4" name="Shape 2"/>
          <p:cNvSpPr/>
          <p:nvPr/>
        </p:nvSpPr>
        <p:spPr>
          <a:xfrm>
            <a:off x="685800" y="1874520"/>
            <a:ext cx="1828800" cy="1417320"/>
          </a:xfrm>
          <a:prstGeom prst="roundRect">
            <a:avLst>
              <a:gd name="adj" fmla="val 9677"/>
            </a:avLst>
          </a:prstGeom>
          <a:solidFill>
            <a:srgbClr val="082B52"/>
          </a:solidFill>
          <a:ln w="12700">
            <a:solidFill>
              <a:srgbClr val="27516E"/>
            </a:solidFill>
            <a:prstDash val="solid"/>
          </a:ln>
        </p:spPr>
        <p:txBody>
          <a:bodyPr/>
          <a:lstStyle/>
          <a:p>
            <a:endParaRPr lang="en-GB"/>
          </a:p>
        </p:txBody>
      </p:sp>
      <p:sp>
        <p:nvSpPr>
          <p:cNvPr id="5" name="Text 3"/>
          <p:cNvSpPr/>
          <p:nvPr/>
        </p:nvSpPr>
        <p:spPr>
          <a:xfrm>
            <a:off x="868680" y="2194560"/>
            <a:ext cx="1463040" cy="237744"/>
          </a:xfrm>
          <a:prstGeom prst="rect">
            <a:avLst/>
          </a:prstGeom>
          <a:no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Quote</a:t>
            </a:r>
            <a:endParaRPr lang="en-US" sz="1900" dirty="0"/>
          </a:p>
        </p:txBody>
      </p:sp>
      <p:sp>
        <p:nvSpPr>
          <p:cNvPr id="6" name="Text 4"/>
          <p:cNvSpPr/>
          <p:nvPr/>
        </p:nvSpPr>
        <p:spPr>
          <a:xfrm>
            <a:off x="886968" y="2660904"/>
            <a:ext cx="1417320" cy="256032"/>
          </a:xfrm>
          <a:prstGeom prst="rect">
            <a:avLst/>
          </a:prstGeom>
          <a:noFill/>
          <a:ln/>
        </p:spPr>
        <p:txBody>
          <a:bodyPr wrap="square" lIns="0" tIns="0" rIns="0" bIns="0" rtlCol="0" anchor="ctr"/>
          <a:lstStyle/>
          <a:p>
            <a:pPr marL="0" indent="0" algn="ctr">
              <a:buNone/>
            </a:pPr>
            <a:r>
              <a:rPr lang="en-US" sz="1150" dirty="0">
                <a:solidFill>
                  <a:srgbClr val="D9EAF4"/>
                </a:solidFill>
                <a:latin typeface="Aptos" pitchFamily="34" charset="0"/>
                <a:ea typeface="Aptos" pitchFamily="34" charset="-122"/>
                <a:cs typeface="Aptos" pitchFamily="34" charset="-120"/>
              </a:rPr>
              <a:t>Base price</a:t>
            </a:r>
            <a:endParaRPr lang="en-US" sz="1150" dirty="0"/>
          </a:p>
        </p:txBody>
      </p:sp>
      <p:sp>
        <p:nvSpPr>
          <p:cNvPr id="7" name="Shape 5"/>
          <p:cNvSpPr/>
          <p:nvPr/>
        </p:nvSpPr>
        <p:spPr>
          <a:xfrm>
            <a:off x="2926080" y="1874520"/>
            <a:ext cx="1828800" cy="1417320"/>
          </a:xfrm>
          <a:prstGeom prst="roundRect">
            <a:avLst>
              <a:gd name="adj" fmla="val 9677"/>
            </a:avLst>
          </a:prstGeom>
          <a:solidFill>
            <a:srgbClr val="082B52"/>
          </a:solidFill>
          <a:ln w="12700">
            <a:solidFill>
              <a:srgbClr val="27516E"/>
            </a:solidFill>
            <a:prstDash val="solid"/>
          </a:ln>
        </p:spPr>
        <p:txBody>
          <a:bodyPr/>
          <a:lstStyle/>
          <a:p>
            <a:endParaRPr lang="en-GB"/>
          </a:p>
        </p:txBody>
      </p:sp>
      <p:sp>
        <p:nvSpPr>
          <p:cNvPr id="8" name="Text 6"/>
          <p:cNvSpPr/>
          <p:nvPr/>
        </p:nvSpPr>
        <p:spPr>
          <a:xfrm>
            <a:off x="3108960" y="2194560"/>
            <a:ext cx="1463040" cy="237744"/>
          </a:xfrm>
          <a:prstGeom prst="rect">
            <a:avLst/>
          </a:prstGeom>
          <a:no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Tariff</a:t>
            </a:r>
            <a:endParaRPr lang="en-US" sz="1900" dirty="0"/>
          </a:p>
        </p:txBody>
      </p:sp>
      <p:sp>
        <p:nvSpPr>
          <p:cNvPr id="9" name="Text 7"/>
          <p:cNvSpPr/>
          <p:nvPr/>
        </p:nvSpPr>
        <p:spPr>
          <a:xfrm>
            <a:off x="3127248" y="2660904"/>
            <a:ext cx="1417320" cy="256032"/>
          </a:xfrm>
          <a:prstGeom prst="rect">
            <a:avLst/>
          </a:prstGeom>
          <a:noFill/>
          <a:ln/>
        </p:spPr>
        <p:txBody>
          <a:bodyPr wrap="square" lIns="0" tIns="0" rIns="0" bIns="0" rtlCol="0" anchor="ctr"/>
          <a:lstStyle/>
          <a:p>
            <a:pPr marL="0" indent="0" algn="ctr">
              <a:buNone/>
            </a:pPr>
            <a:r>
              <a:rPr lang="en-US" sz="1150" dirty="0">
                <a:solidFill>
                  <a:srgbClr val="D9EAF4"/>
                </a:solidFill>
                <a:latin typeface="Aptos" pitchFamily="34" charset="0"/>
                <a:ea typeface="Aptos" pitchFamily="34" charset="-122"/>
                <a:cs typeface="Aptos" pitchFamily="34" charset="-120"/>
              </a:rPr>
              <a:t>Duty exposure</a:t>
            </a:r>
            <a:endParaRPr lang="en-US" sz="1150" dirty="0"/>
          </a:p>
        </p:txBody>
      </p:sp>
      <p:sp>
        <p:nvSpPr>
          <p:cNvPr id="10" name="Shape 8"/>
          <p:cNvSpPr/>
          <p:nvPr/>
        </p:nvSpPr>
        <p:spPr>
          <a:xfrm>
            <a:off x="5166360" y="1874520"/>
            <a:ext cx="1828800" cy="1417320"/>
          </a:xfrm>
          <a:prstGeom prst="roundRect">
            <a:avLst>
              <a:gd name="adj" fmla="val 9677"/>
            </a:avLst>
          </a:prstGeom>
          <a:solidFill>
            <a:srgbClr val="082B52"/>
          </a:solidFill>
          <a:ln w="12700">
            <a:solidFill>
              <a:srgbClr val="27516E"/>
            </a:solidFill>
            <a:prstDash val="solid"/>
          </a:ln>
        </p:spPr>
        <p:txBody>
          <a:bodyPr/>
          <a:lstStyle/>
          <a:p>
            <a:endParaRPr lang="en-GB"/>
          </a:p>
        </p:txBody>
      </p:sp>
      <p:sp>
        <p:nvSpPr>
          <p:cNvPr id="11" name="Text 9"/>
          <p:cNvSpPr/>
          <p:nvPr/>
        </p:nvSpPr>
        <p:spPr>
          <a:xfrm>
            <a:off x="5349240" y="2194560"/>
            <a:ext cx="1463040" cy="237744"/>
          </a:xfrm>
          <a:prstGeom prst="rect">
            <a:avLst/>
          </a:prstGeom>
          <a:no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Route</a:t>
            </a:r>
            <a:endParaRPr lang="en-US" sz="1900" dirty="0"/>
          </a:p>
        </p:txBody>
      </p:sp>
      <p:sp>
        <p:nvSpPr>
          <p:cNvPr id="12" name="Text 10"/>
          <p:cNvSpPr/>
          <p:nvPr/>
        </p:nvSpPr>
        <p:spPr>
          <a:xfrm>
            <a:off x="5367528" y="2660904"/>
            <a:ext cx="1417320" cy="256032"/>
          </a:xfrm>
          <a:prstGeom prst="rect">
            <a:avLst/>
          </a:prstGeom>
          <a:noFill/>
          <a:ln/>
        </p:spPr>
        <p:txBody>
          <a:bodyPr wrap="square" lIns="0" tIns="0" rIns="0" bIns="0" rtlCol="0" anchor="ctr"/>
          <a:lstStyle/>
          <a:p>
            <a:pPr marL="0" indent="0" algn="ctr">
              <a:buNone/>
            </a:pPr>
            <a:r>
              <a:rPr lang="en-US" sz="1150" dirty="0">
                <a:solidFill>
                  <a:srgbClr val="D9EAF4"/>
                </a:solidFill>
                <a:latin typeface="Aptos" pitchFamily="34" charset="0"/>
                <a:ea typeface="Aptos" pitchFamily="34" charset="-122"/>
                <a:cs typeface="Aptos" pitchFamily="34" charset="-120"/>
              </a:rPr>
              <a:t>Freight risk</a:t>
            </a:r>
            <a:endParaRPr lang="en-US" sz="1150" dirty="0"/>
          </a:p>
        </p:txBody>
      </p:sp>
      <p:sp>
        <p:nvSpPr>
          <p:cNvPr id="13" name="Shape 11"/>
          <p:cNvSpPr/>
          <p:nvPr/>
        </p:nvSpPr>
        <p:spPr>
          <a:xfrm>
            <a:off x="7406640" y="1874520"/>
            <a:ext cx="1828800" cy="1417320"/>
          </a:xfrm>
          <a:prstGeom prst="roundRect">
            <a:avLst>
              <a:gd name="adj" fmla="val 9677"/>
            </a:avLst>
          </a:prstGeom>
          <a:solidFill>
            <a:srgbClr val="082B52"/>
          </a:solidFill>
          <a:ln w="12700">
            <a:solidFill>
              <a:srgbClr val="27516E"/>
            </a:solidFill>
            <a:prstDash val="solid"/>
          </a:ln>
        </p:spPr>
        <p:txBody>
          <a:bodyPr/>
          <a:lstStyle/>
          <a:p>
            <a:endParaRPr lang="en-GB"/>
          </a:p>
        </p:txBody>
      </p:sp>
      <p:sp>
        <p:nvSpPr>
          <p:cNvPr id="14" name="Text 12"/>
          <p:cNvSpPr/>
          <p:nvPr/>
        </p:nvSpPr>
        <p:spPr>
          <a:xfrm>
            <a:off x="7589520" y="2194560"/>
            <a:ext cx="1463040" cy="237744"/>
          </a:xfrm>
          <a:prstGeom prst="rect">
            <a:avLst/>
          </a:prstGeom>
          <a:no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Delivery</a:t>
            </a:r>
            <a:endParaRPr lang="en-US" sz="1900" dirty="0"/>
          </a:p>
        </p:txBody>
      </p:sp>
      <p:sp>
        <p:nvSpPr>
          <p:cNvPr id="15" name="Text 13"/>
          <p:cNvSpPr/>
          <p:nvPr/>
        </p:nvSpPr>
        <p:spPr>
          <a:xfrm>
            <a:off x="7607808" y="2660904"/>
            <a:ext cx="1417320" cy="256032"/>
          </a:xfrm>
          <a:prstGeom prst="rect">
            <a:avLst/>
          </a:prstGeom>
          <a:noFill/>
          <a:ln/>
        </p:spPr>
        <p:txBody>
          <a:bodyPr wrap="square" lIns="0" tIns="0" rIns="0" bIns="0" rtlCol="0" anchor="ctr"/>
          <a:lstStyle/>
          <a:p>
            <a:pPr marL="0" indent="0" algn="ctr">
              <a:buNone/>
            </a:pPr>
            <a:r>
              <a:rPr lang="en-US" sz="1150" dirty="0">
                <a:solidFill>
                  <a:srgbClr val="D9EAF4"/>
                </a:solidFill>
                <a:latin typeface="Aptos" pitchFamily="34" charset="0"/>
                <a:ea typeface="Aptos" pitchFamily="34" charset="-122"/>
                <a:cs typeface="Aptos" pitchFamily="34" charset="-120"/>
              </a:rPr>
              <a:t>Landed cost</a:t>
            </a:r>
            <a:endParaRPr lang="en-US" sz="1150" dirty="0"/>
          </a:p>
        </p:txBody>
      </p:sp>
      <p:sp>
        <p:nvSpPr>
          <p:cNvPr id="16" name="Shape 14"/>
          <p:cNvSpPr/>
          <p:nvPr/>
        </p:nvSpPr>
        <p:spPr>
          <a:xfrm>
            <a:off x="9646920" y="1874520"/>
            <a:ext cx="1828800" cy="1417320"/>
          </a:xfrm>
          <a:prstGeom prst="roundRect">
            <a:avLst>
              <a:gd name="adj" fmla="val 9677"/>
            </a:avLst>
          </a:prstGeom>
          <a:solidFill>
            <a:srgbClr val="00A99D"/>
          </a:solidFill>
          <a:ln w="12700">
            <a:solidFill>
              <a:srgbClr val="00A99D"/>
            </a:solidFill>
            <a:prstDash val="solid"/>
          </a:ln>
        </p:spPr>
        <p:txBody>
          <a:bodyPr/>
          <a:lstStyle/>
          <a:p>
            <a:endParaRPr lang="en-GB"/>
          </a:p>
        </p:txBody>
      </p:sp>
      <p:sp>
        <p:nvSpPr>
          <p:cNvPr id="17" name="Text 15"/>
          <p:cNvSpPr/>
          <p:nvPr/>
        </p:nvSpPr>
        <p:spPr>
          <a:xfrm>
            <a:off x="9829800" y="2194560"/>
            <a:ext cx="1463040" cy="237744"/>
          </a:xfrm>
          <a:prstGeom prst="rect">
            <a:avLst/>
          </a:prstGeom>
          <a:no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Margin</a:t>
            </a:r>
            <a:endParaRPr lang="en-US" sz="1900" dirty="0"/>
          </a:p>
        </p:txBody>
      </p:sp>
      <p:sp>
        <p:nvSpPr>
          <p:cNvPr id="18" name="Text 16"/>
          <p:cNvSpPr/>
          <p:nvPr/>
        </p:nvSpPr>
        <p:spPr>
          <a:xfrm>
            <a:off x="9848088" y="2660904"/>
            <a:ext cx="1417320" cy="256032"/>
          </a:xfrm>
          <a:prstGeom prst="rect">
            <a:avLst/>
          </a:prstGeom>
          <a:noFill/>
          <a:ln/>
        </p:spPr>
        <p:txBody>
          <a:bodyPr wrap="square" lIns="0" tIns="0" rIns="0" bIns="0" rtlCol="0" anchor="ctr"/>
          <a:lstStyle/>
          <a:p>
            <a:pPr marL="0" indent="0" algn="ctr">
              <a:buNone/>
            </a:pPr>
            <a:r>
              <a:rPr lang="en-US" sz="1150" dirty="0">
                <a:solidFill>
                  <a:srgbClr val="D9EAF4"/>
                </a:solidFill>
                <a:latin typeface="Aptos" pitchFamily="34" charset="0"/>
                <a:ea typeface="Aptos" pitchFamily="34" charset="-122"/>
                <a:cs typeface="Aptos" pitchFamily="34" charset="-120"/>
              </a:rPr>
              <a:t>Decision</a:t>
            </a:r>
            <a:endParaRPr lang="en-US" sz="1150" dirty="0"/>
          </a:p>
        </p:txBody>
      </p:sp>
      <p:sp>
        <p:nvSpPr>
          <p:cNvPr id="19" name="Shape 17"/>
          <p:cNvSpPr/>
          <p:nvPr/>
        </p:nvSpPr>
        <p:spPr>
          <a:xfrm>
            <a:off x="822960" y="4206240"/>
            <a:ext cx="5120640" cy="987552"/>
          </a:xfrm>
          <a:prstGeom prst="roundRect">
            <a:avLst>
              <a:gd name="adj" fmla="val 12963"/>
            </a:avLst>
          </a:prstGeom>
          <a:solidFill>
            <a:srgbClr val="0B2746"/>
          </a:solidFill>
          <a:ln w="12700">
            <a:solidFill>
              <a:srgbClr val="28526E"/>
            </a:solidFill>
            <a:prstDash val="solid"/>
          </a:ln>
        </p:spPr>
        <p:txBody>
          <a:bodyPr/>
          <a:lstStyle/>
          <a:p>
            <a:endParaRPr lang="en-GB"/>
          </a:p>
        </p:txBody>
      </p:sp>
      <p:sp>
        <p:nvSpPr>
          <p:cNvPr id="20" name="Text 18"/>
          <p:cNvSpPr/>
          <p:nvPr/>
        </p:nvSpPr>
        <p:spPr>
          <a:xfrm>
            <a:off x="1078992" y="4434840"/>
            <a:ext cx="2560320" cy="201168"/>
          </a:xfrm>
          <a:prstGeom prst="rect">
            <a:avLst/>
          </a:prstGeom>
          <a:noFill/>
          <a:ln/>
        </p:spPr>
        <p:txBody>
          <a:bodyPr wrap="square" lIns="0" tIns="0" rIns="0" bIns="0" rtlCol="0" anchor="ctr"/>
          <a:lstStyle/>
          <a:p>
            <a:pPr marL="0" indent="0">
              <a:buNone/>
            </a:pPr>
            <a:r>
              <a:rPr lang="en-US" sz="1200" b="1" dirty="0">
                <a:solidFill>
                  <a:srgbClr val="F59E0B"/>
                </a:solidFill>
                <a:latin typeface="Aptos" pitchFamily="34" charset="0"/>
                <a:ea typeface="Aptos" pitchFamily="34" charset="-122"/>
                <a:cs typeface="Aptos" pitchFamily="34" charset="-120"/>
              </a:rPr>
              <a:t>What the affiliate sells</a:t>
            </a:r>
            <a:endParaRPr lang="en-US" sz="1200" dirty="0"/>
          </a:p>
        </p:txBody>
      </p:sp>
      <p:sp>
        <p:nvSpPr>
          <p:cNvPr id="21" name="Text 19"/>
          <p:cNvSpPr/>
          <p:nvPr/>
        </p:nvSpPr>
        <p:spPr>
          <a:xfrm>
            <a:off x="1078992" y="4736592"/>
            <a:ext cx="4434840" cy="256032"/>
          </a:xfrm>
          <a:prstGeom prst="rect">
            <a:avLst/>
          </a:prstGeom>
          <a:noFill/>
          <a:ln/>
        </p:spPr>
        <p:txBody>
          <a:bodyPr wrap="square" lIns="0" tIns="0" rIns="0" bIns="0" rtlCol="0" anchor="ctr"/>
          <a:lstStyle/>
          <a:p>
            <a:pPr marL="0" indent="0">
              <a:buNone/>
            </a:pPr>
            <a:r>
              <a:rPr lang="en-US" sz="1600" b="1" dirty="0">
                <a:solidFill>
                  <a:srgbClr val="FFFFFF"/>
                </a:solidFill>
                <a:latin typeface="Aptos Display" pitchFamily="34" charset="0"/>
                <a:ea typeface="Aptos Display" pitchFamily="34" charset="-122"/>
                <a:cs typeface="Aptos Display" pitchFamily="34" charset="-120"/>
              </a:rPr>
              <a:t>A better conversation before price, duty, route or demand shifts damage profitability.</a:t>
            </a:r>
            <a:endParaRPr lang="en-US" sz="1600" dirty="0"/>
          </a:p>
        </p:txBody>
      </p:sp>
      <p:sp>
        <p:nvSpPr>
          <p:cNvPr id="22" name="Shape 20"/>
          <p:cNvSpPr/>
          <p:nvPr/>
        </p:nvSpPr>
        <p:spPr>
          <a:xfrm>
            <a:off x="6400800" y="4206240"/>
            <a:ext cx="4754880" cy="987552"/>
          </a:xfrm>
          <a:prstGeom prst="roundRect">
            <a:avLst>
              <a:gd name="adj" fmla="val 12963"/>
            </a:avLst>
          </a:prstGeom>
          <a:solidFill>
            <a:srgbClr val="0B2746"/>
          </a:solidFill>
          <a:ln w="12700">
            <a:solidFill>
              <a:srgbClr val="28526E"/>
            </a:solidFill>
            <a:prstDash val="solid"/>
          </a:ln>
        </p:spPr>
        <p:txBody>
          <a:bodyPr/>
          <a:lstStyle/>
          <a:p>
            <a:endParaRPr lang="en-GB"/>
          </a:p>
        </p:txBody>
      </p:sp>
      <p:sp>
        <p:nvSpPr>
          <p:cNvPr id="23" name="Text 21"/>
          <p:cNvSpPr/>
          <p:nvPr/>
        </p:nvSpPr>
        <p:spPr>
          <a:xfrm>
            <a:off x="6656832" y="4434840"/>
            <a:ext cx="2103120" cy="201168"/>
          </a:xfrm>
          <a:prstGeom prst="rect">
            <a:avLst/>
          </a:prstGeom>
          <a:noFill/>
          <a:ln/>
        </p:spPr>
        <p:txBody>
          <a:bodyPr wrap="square" lIns="0" tIns="0" rIns="0" bIns="0" rtlCol="0" anchor="ctr"/>
          <a:lstStyle/>
          <a:p>
            <a:pPr marL="0" indent="0">
              <a:buNone/>
            </a:pPr>
            <a:r>
              <a:rPr lang="en-US" sz="1200" b="1" dirty="0">
                <a:solidFill>
                  <a:srgbClr val="00A99D"/>
                </a:solidFill>
                <a:latin typeface="Aptos" pitchFamily="34" charset="0"/>
                <a:ea typeface="Aptos" pitchFamily="34" charset="-122"/>
                <a:cs typeface="Aptos" pitchFamily="34" charset="-120"/>
              </a:rPr>
              <a:t>Safe wording</a:t>
            </a:r>
            <a:endParaRPr lang="en-US" sz="1200" dirty="0"/>
          </a:p>
        </p:txBody>
      </p:sp>
      <p:sp>
        <p:nvSpPr>
          <p:cNvPr id="24" name="Text 22"/>
          <p:cNvSpPr/>
          <p:nvPr/>
        </p:nvSpPr>
        <p:spPr>
          <a:xfrm>
            <a:off x="6656832" y="4709160"/>
            <a:ext cx="4251960" cy="310896"/>
          </a:xfrm>
          <a:prstGeom prst="rect">
            <a:avLst/>
          </a:prstGeom>
          <a:noFill/>
          <a:ln/>
        </p:spPr>
        <p:txBody>
          <a:bodyPr wrap="square" lIns="127" tIns="127" rIns="127" bIns="127" rtlCol="0" anchor="ctr">
            <a:normAutofit/>
          </a:bodyPr>
          <a:lstStyle/>
          <a:p>
            <a:pPr marL="0" indent="0">
              <a:buNone/>
            </a:pPr>
            <a:r>
              <a:rPr lang="en-US" sz="1250" dirty="0">
                <a:solidFill>
                  <a:srgbClr val="D9EAF4"/>
                </a:solidFill>
                <a:latin typeface="Aptos" pitchFamily="34" charset="0"/>
                <a:ea typeface="Aptos" pitchFamily="34" charset="-122"/>
                <a:cs typeface="Aptos" pitchFamily="34" charset="-120"/>
              </a:rPr>
              <a:t>“ADAMftd helps review price and tariff exposure; it does not guarantee future prices or official duty outcomes.”</a:t>
            </a:r>
            <a:endParaRPr lang="en-US" sz="1250" dirty="0"/>
          </a:p>
        </p:txBody>
      </p:sp>
      <p:sp>
        <p:nvSpPr>
          <p:cNvPr id="25" name="Text 23"/>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D9EAF4"/>
                </a:solidFill>
                <a:latin typeface="Aptos" pitchFamily="34" charset="0"/>
                <a:ea typeface="Aptos" pitchFamily="34" charset="-122"/>
                <a:cs typeface="Aptos" pitchFamily="34" charset="-120"/>
              </a:rPr>
              <a:t>ADAMftd Affiliate Kit · ADAMftd.com</a:t>
            </a:r>
            <a:endParaRPr lang="en-US" sz="850" dirty="0"/>
          </a:p>
        </p:txBody>
      </p:sp>
      <p:sp>
        <p:nvSpPr>
          <p:cNvPr id="26" name="Text 24"/>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D9EAF4"/>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The affiliate diagnostic</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64748B"/>
                </a:solidFill>
                <a:latin typeface="Aptos" pitchFamily="34" charset="0"/>
                <a:ea typeface="Aptos" pitchFamily="34" charset="-122"/>
                <a:cs typeface="Aptos" pitchFamily="34" charset="-120"/>
              </a:rPr>
              <a:t>Use questions to identify the highest-value use case in under 5 minutes.</a:t>
            </a:r>
            <a:endParaRPr lang="en-US" sz="1180" dirty="0"/>
          </a:p>
        </p:txBody>
      </p:sp>
      <p:sp>
        <p:nvSpPr>
          <p:cNvPr id="4" name="Shape 2"/>
          <p:cNvSpPr/>
          <p:nvPr/>
        </p:nvSpPr>
        <p:spPr>
          <a:xfrm>
            <a:off x="685800" y="1417320"/>
            <a:ext cx="5074920" cy="1234440"/>
          </a:xfrm>
          <a:prstGeom prst="roundRect">
            <a:avLst>
              <a:gd name="adj" fmla="val 11111"/>
            </a:avLst>
          </a:prstGeom>
          <a:solidFill>
            <a:srgbClr val="FFFFFF"/>
          </a:solidFill>
          <a:ln w="12700">
            <a:solidFill>
              <a:srgbClr val="D8E4EE"/>
            </a:solidFill>
            <a:prstDash val="solid"/>
          </a:ln>
        </p:spPr>
        <p:txBody>
          <a:bodyPr/>
          <a:lstStyle/>
          <a:p>
            <a:endParaRPr lang="en-GB"/>
          </a:p>
        </p:txBody>
      </p:sp>
      <p:sp>
        <p:nvSpPr>
          <p:cNvPr id="5" name="Text 3"/>
          <p:cNvSpPr/>
          <p:nvPr/>
        </p:nvSpPr>
        <p:spPr>
          <a:xfrm>
            <a:off x="1005840" y="1618488"/>
            <a:ext cx="1508760" cy="228600"/>
          </a:xfrm>
          <a:prstGeom prst="rect">
            <a:avLst/>
          </a:prstGeom>
          <a:noFill/>
          <a:ln/>
        </p:spPr>
        <p:txBody>
          <a:bodyPr wrap="square" lIns="0" tIns="0" rIns="0" bIns="0" rtlCol="0" anchor="ctr"/>
          <a:lstStyle/>
          <a:p>
            <a:pPr marL="0" indent="0">
              <a:buNone/>
            </a:pPr>
            <a:r>
              <a:rPr lang="en-US" sz="1200" b="1" dirty="0">
                <a:solidFill>
                  <a:srgbClr val="00A99D"/>
                </a:solidFill>
                <a:latin typeface="Aptos" pitchFamily="34" charset="0"/>
                <a:ea typeface="Aptos" pitchFamily="34" charset="-122"/>
                <a:cs typeface="Aptos" pitchFamily="34" charset="-120"/>
              </a:rPr>
              <a:t>Verification</a:t>
            </a:r>
            <a:endParaRPr lang="en-US" sz="1200" dirty="0"/>
          </a:p>
        </p:txBody>
      </p:sp>
      <p:sp>
        <p:nvSpPr>
          <p:cNvPr id="6" name="Text 4"/>
          <p:cNvSpPr/>
          <p:nvPr/>
        </p:nvSpPr>
        <p:spPr>
          <a:xfrm>
            <a:off x="1005840" y="1984248"/>
            <a:ext cx="4434840" cy="329184"/>
          </a:xfrm>
          <a:prstGeom prst="rect">
            <a:avLst/>
          </a:prstGeom>
          <a:noFill/>
          <a:ln/>
        </p:spPr>
        <p:txBody>
          <a:bodyPr wrap="square" lIns="127" tIns="127" rIns="127" bIns="127" rtlCol="0" anchor="ctr">
            <a:normAutofit/>
          </a:bodyPr>
          <a:lstStyle/>
          <a:p>
            <a:pPr marL="0" indent="0">
              <a:buNone/>
            </a:pPr>
            <a:r>
              <a:rPr lang="en-US" sz="1650" b="1" dirty="0">
                <a:solidFill>
                  <a:srgbClr val="0B1F33"/>
                </a:solidFill>
                <a:latin typeface="Aptos Display" pitchFamily="34" charset="0"/>
                <a:ea typeface="Aptos Display" pitchFamily="34" charset="-122"/>
                <a:cs typeface="Aptos Display" pitchFamily="34" charset="-120"/>
              </a:rPr>
              <a:t>“Are you trying to validate a buyer, supplier or importer before engaging?”</a:t>
            </a:r>
            <a:endParaRPr lang="en-US" sz="1650" dirty="0"/>
          </a:p>
        </p:txBody>
      </p:sp>
      <p:sp>
        <p:nvSpPr>
          <p:cNvPr id="7" name="Shape 5"/>
          <p:cNvSpPr/>
          <p:nvPr/>
        </p:nvSpPr>
        <p:spPr>
          <a:xfrm>
            <a:off x="6172200" y="1417320"/>
            <a:ext cx="5074920" cy="1234440"/>
          </a:xfrm>
          <a:prstGeom prst="roundRect">
            <a:avLst>
              <a:gd name="adj" fmla="val 11111"/>
            </a:avLst>
          </a:prstGeom>
          <a:solidFill>
            <a:srgbClr val="FFFFFF"/>
          </a:solidFill>
          <a:ln w="12700">
            <a:solidFill>
              <a:srgbClr val="D8E4EE"/>
            </a:solidFill>
            <a:prstDash val="solid"/>
          </a:ln>
        </p:spPr>
        <p:txBody>
          <a:bodyPr/>
          <a:lstStyle/>
          <a:p>
            <a:endParaRPr lang="en-GB"/>
          </a:p>
        </p:txBody>
      </p:sp>
      <p:sp>
        <p:nvSpPr>
          <p:cNvPr id="8" name="Text 6"/>
          <p:cNvSpPr/>
          <p:nvPr/>
        </p:nvSpPr>
        <p:spPr>
          <a:xfrm>
            <a:off x="6492240" y="1618488"/>
            <a:ext cx="1508760" cy="228600"/>
          </a:xfrm>
          <a:prstGeom prst="rect">
            <a:avLst/>
          </a:prstGeom>
          <a:noFill/>
          <a:ln/>
        </p:spPr>
        <p:txBody>
          <a:bodyPr wrap="square" lIns="0" tIns="0" rIns="0" bIns="0" rtlCol="0" anchor="ctr"/>
          <a:lstStyle/>
          <a:p>
            <a:pPr marL="0" indent="0">
              <a:buNone/>
            </a:pPr>
            <a:r>
              <a:rPr lang="en-US" sz="1200" b="1" dirty="0">
                <a:solidFill>
                  <a:srgbClr val="F59E0B"/>
                </a:solidFill>
                <a:latin typeface="Aptos" pitchFamily="34" charset="0"/>
                <a:ea typeface="Aptos" pitchFamily="34" charset="-122"/>
                <a:cs typeface="Aptos" pitchFamily="34" charset="-120"/>
              </a:rPr>
              <a:t>Discovery</a:t>
            </a:r>
            <a:endParaRPr lang="en-US" sz="1200" dirty="0"/>
          </a:p>
        </p:txBody>
      </p:sp>
      <p:sp>
        <p:nvSpPr>
          <p:cNvPr id="9" name="Text 7"/>
          <p:cNvSpPr/>
          <p:nvPr/>
        </p:nvSpPr>
        <p:spPr>
          <a:xfrm>
            <a:off x="6492240" y="1984248"/>
            <a:ext cx="4434840" cy="329184"/>
          </a:xfrm>
          <a:prstGeom prst="rect">
            <a:avLst/>
          </a:prstGeom>
          <a:noFill/>
          <a:ln/>
        </p:spPr>
        <p:txBody>
          <a:bodyPr wrap="square" lIns="127" tIns="127" rIns="127" bIns="127" rtlCol="0" anchor="ctr">
            <a:normAutofit/>
          </a:bodyPr>
          <a:lstStyle/>
          <a:p>
            <a:pPr marL="0" indent="0">
              <a:buNone/>
            </a:pPr>
            <a:r>
              <a:rPr lang="en-US" sz="1650" b="1" dirty="0">
                <a:solidFill>
                  <a:srgbClr val="0B1F33"/>
                </a:solidFill>
                <a:latin typeface="Aptos Display" pitchFamily="34" charset="0"/>
                <a:ea typeface="Aptos Display" pitchFamily="34" charset="-122"/>
                <a:cs typeface="Aptos Display" pitchFamily="34" charset="-120"/>
              </a:rPr>
              <a:t>“Do you need better targets than generic contact lists?”</a:t>
            </a:r>
            <a:endParaRPr lang="en-US" sz="1650" dirty="0"/>
          </a:p>
        </p:txBody>
      </p:sp>
      <p:sp>
        <p:nvSpPr>
          <p:cNvPr id="10" name="Shape 8"/>
          <p:cNvSpPr/>
          <p:nvPr/>
        </p:nvSpPr>
        <p:spPr>
          <a:xfrm>
            <a:off x="685800" y="3154680"/>
            <a:ext cx="5074920" cy="1234440"/>
          </a:xfrm>
          <a:prstGeom prst="roundRect">
            <a:avLst>
              <a:gd name="adj" fmla="val 11111"/>
            </a:avLst>
          </a:prstGeom>
          <a:solidFill>
            <a:srgbClr val="FFFFFF"/>
          </a:solidFill>
          <a:ln w="12700">
            <a:solidFill>
              <a:srgbClr val="D8E4EE"/>
            </a:solidFill>
            <a:prstDash val="solid"/>
          </a:ln>
        </p:spPr>
        <p:txBody>
          <a:bodyPr/>
          <a:lstStyle/>
          <a:p>
            <a:endParaRPr lang="en-GB"/>
          </a:p>
        </p:txBody>
      </p:sp>
      <p:sp>
        <p:nvSpPr>
          <p:cNvPr id="11" name="Text 9"/>
          <p:cNvSpPr/>
          <p:nvPr/>
        </p:nvSpPr>
        <p:spPr>
          <a:xfrm>
            <a:off x="1005840" y="3355848"/>
            <a:ext cx="1508760" cy="228600"/>
          </a:xfrm>
          <a:prstGeom prst="rect">
            <a:avLst/>
          </a:prstGeom>
          <a:noFill/>
          <a:ln/>
        </p:spPr>
        <p:txBody>
          <a:bodyPr wrap="square" lIns="0" tIns="0" rIns="0" bIns="0" rtlCol="0" anchor="ctr"/>
          <a:lstStyle/>
          <a:p>
            <a:pPr marL="0" indent="0">
              <a:buNone/>
            </a:pPr>
            <a:r>
              <a:rPr lang="en-US" sz="1200" b="1" dirty="0">
                <a:solidFill>
                  <a:srgbClr val="000000"/>
                </a:solidFill>
                <a:latin typeface="Aptos" pitchFamily="34" charset="0"/>
                <a:ea typeface="Aptos" pitchFamily="34" charset="-122"/>
                <a:cs typeface="Aptos" pitchFamily="34" charset="-120"/>
              </a:rPr>
              <a:t>Market review</a:t>
            </a:r>
            <a:endParaRPr lang="en-US" sz="1200" dirty="0"/>
          </a:p>
        </p:txBody>
      </p:sp>
      <p:sp>
        <p:nvSpPr>
          <p:cNvPr id="12" name="Text 10"/>
          <p:cNvSpPr/>
          <p:nvPr/>
        </p:nvSpPr>
        <p:spPr>
          <a:xfrm>
            <a:off x="1005840" y="3721608"/>
            <a:ext cx="4434840" cy="329184"/>
          </a:xfrm>
          <a:prstGeom prst="rect">
            <a:avLst/>
          </a:prstGeom>
          <a:noFill/>
          <a:ln/>
        </p:spPr>
        <p:txBody>
          <a:bodyPr wrap="square" lIns="127" tIns="127" rIns="127" bIns="127" rtlCol="0" anchor="ctr">
            <a:normAutofit/>
          </a:bodyPr>
          <a:lstStyle/>
          <a:p>
            <a:pPr marL="0" indent="0">
              <a:buNone/>
            </a:pPr>
            <a:r>
              <a:rPr lang="en-US" sz="1650" b="1" dirty="0">
                <a:solidFill>
                  <a:srgbClr val="0B1F33"/>
                </a:solidFill>
                <a:latin typeface="Aptos Display" pitchFamily="34" charset="0"/>
                <a:ea typeface="Aptos Display" pitchFamily="34" charset="-122"/>
                <a:cs typeface="Aptos Display" pitchFamily="34" charset="-120"/>
              </a:rPr>
              <a:t>“Which market or segment are you considering, and what evidence would de-risk the decision?”</a:t>
            </a:r>
            <a:endParaRPr lang="en-US" sz="1650" dirty="0"/>
          </a:p>
        </p:txBody>
      </p:sp>
      <p:sp>
        <p:nvSpPr>
          <p:cNvPr id="13" name="Shape 11"/>
          <p:cNvSpPr/>
          <p:nvPr/>
        </p:nvSpPr>
        <p:spPr>
          <a:xfrm>
            <a:off x="6172200" y="3154680"/>
            <a:ext cx="5074920" cy="1234440"/>
          </a:xfrm>
          <a:prstGeom prst="roundRect">
            <a:avLst>
              <a:gd name="adj" fmla="val 11111"/>
            </a:avLst>
          </a:prstGeom>
          <a:solidFill>
            <a:srgbClr val="FFFFFF"/>
          </a:solidFill>
          <a:ln w="12700">
            <a:solidFill>
              <a:srgbClr val="D8E4EE"/>
            </a:solidFill>
            <a:prstDash val="solid"/>
          </a:ln>
        </p:spPr>
        <p:txBody>
          <a:bodyPr/>
          <a:lstStyle/>
          <a:p>
            <a:endParaRPr lang="en-GB"/>
          </a:p>
        </p:txBody>
      </p:sp>
      <p:sp>
        <p:nvSpPr>
          <p:cNvPr id="14" name="Text 12"/>
          <p:cNvSpPr/>
          <p:nvPr/>
        </p:nvSpPr>
        <p:spPr>
          <a:xfrm>
            <a:off x="6492240" y="3355848"/>
            <a:ext cx="1508760" cy="228600"/>
          </a:xfrm>
          <a:prstGeom prst="rect">
            <a:avLst/>
          </a:prstGeom>
          <a:noFill/>
          <a:ln/>
        </p:spPr>
        <p:txBody>
          <a:bodyPr wrap="square" lIns="0" tIns="0" rIns="0" bIns="0" rtlCol="0" anchor="ctr"/>
          <a:lstStyle/>
          <a:p>
            <a:pPr marL="0" indent="0">
              <a:buNone/>
            </a:pPr>
            <a:r>
              <a:rPr lang="en-US" sz="1200" b="1" dirty="0">
                <a:solidFill>
                  <a:srgbClr val="7C3AED"/>
                </a:solidFill>
                <a:latin typeface="Aptos" pitchFamily="34" charset="0"/>
                <a:ea typeface="Aptos" pitchFamily="34" charset="-122"/>
                <a:cs typeface="Aptos" pitchFamily="34" charset="-120"/>
              </a:rPr>
              <a:t>Volatility</a:t>
            </a:r>
            <a:endParaRPr lang="en-US" sz="1200" dirty="0"/>
          </a:p>
        </p:txBody>
      </p:sp>
      <p:sp>
        <p:nvSpPr>
          <p:cNvPr id="15" name="Text 13"/>
          <p:cNvSpPr/>
          <p:nvPr/>
        </p:nvSpPr>
        <p:spPr>
          <a:xfrm>
            <a:off x="6492240" y="3721608"/>
            <a:ext cx="4434840" cy="329184"/>
          </a:xfrm>
          <a:prstGeom prst="rect">
            <a:avLst/>
          </a:prstGeom>
          <a:noFill/>
          <a:ln/>
        </p:spPr>
        <p:txBody>
          <a:bodyPr wrap="square" lIns="127" tIns="127" rIns="127" bIns="127" rtlCol="0" anchor="ctr">
            <a:normAutofit/>
          </a:bodyPr>
          <a:lstStyle/>
          <a:p>
            <a:pPr marL="0" indent="0">
              <a:buNone/>
            </a:pPr>
            <a:r>
              <a:rPr lang="en-US" sz="1650" b="1" dirty="0">
                <a:solidFill>
                  <a:srgbClr val="0B1F33"/>
                </a:solidFill>
                <a:latin typeface="Aptos Display" pitchFamily="34" charset="0"/>
                <a:ea typeface="Aptos Display" pitchFamily="34" charset="-122"/>
                <a:cs typeface="Aptos Display" pitchFamily="34" charset="-120"/>
              </a:rPr>
              <a:t>“Where are tariffs, prices, freight or route changes hurting margin?”</a:t>
            </a:r>
            <a:endParaRPr lang="en-US" sz="1650" dirty="0"/>
          </a:p>
        </p:txBody>
      </p:sp>
      <p:sp>
        <p:nvSpPr>
          <p:cNvPr id="16" name="Shape 14"/>
          <p:cNvSpPr/>
          <p:nvPr/>
        </p:nvSpPr>
        <p:spPr>
          <a:xfrm>
            <a:off x="1005840" y="5166360"/>
            <a:ext cx="10149840" cy="658368"/>
          </a:xfrm>
          <a:prstGeom prst="roundRect">
            <a:avLst>
              <a:gd name="adj" fmla="val 19444"/>
            </a:avLst>
          </a:prstGeom>
          <a:solidFill>
            <a:srgbClr val="E9FBF8"/>
          </a:solidFill>
          <a:ln w="12700">
            <a:solidFill>
              <a:srgbClr val="B8E8E0"/>
            </a:solidFill>
            <a:prstDash val="solid"/>
          </a:ln>
        </p:spPr>
        <p:txBody>
          <a:bodyPr/>
          <a:lstStyle/>
          <a:p>
            <a:endParaRPr lang="en-GB"/>
          </a:p>
        </p:txBody>
      </p:sp>
      <p:sp>
        <p:nvSpPr>
          <p:cNvPr id="17" name="Text 15"/>
          <p:cNvSpPr/>
          <p:nvPr/>
        </p:nvSpPr>
        <p:spPr>
          <a:xfrm>
            <a:off x="1325880" y="5358384"/>
            <a:ext cx="9464040" cy="201168"/>
          </a:xfrm>
          <a:prstGeom prst="rect">
            <a:avLst/>
          </a:prstGeom>
          <a:noFill/>
          <a:ln/>
        </p:spPr>
        <p:txBody>
          <a:bodyPr wrap="square" lIns="0" tIns="0" rIns="0" bIns="0" rtlCol="0" anchor="ctr"/>
          <a:lstStyle/>
          <a:p>
            <a:pPr marL="0" indent="0" algn="ctr">
              <a:buNone/>
            </a:pPr>
            <a:r>
              <a:rPr lang="en-US" sz="1700" b="1" dirty="0">
                <a:solidFill>
                  <a:srgbClr val="0B1F33"/>
                </a:solidFill>
                <a:latin typeface="Aptos Display" pitchFamily="34" charset="0"/>
                <a:ea typeface="Aptos Display" pitchFamily="34" charset="-122"/>
                <a:cs typeface="Aptos Display" pitchFamily="34" charset="-120"/>
              </a:rPr>
              <a:t>Rule: diagnose before demo. The best demo is the one that matches the pain.</a:t>
            </a:r>
            <a:endParaRPr lang="en-US" sz="1700" dirty="0"/>
          </a:p>
        </p:txBody>
      </p:sp>
      <p:sp>
        <p:nvSpPr>
          <p:cNvPr id="18" name="Text 16"/>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ADAMftd Affiliate Kit · ADAMftd.com</a:t>
            </a:r>
            <a:endParaRPr lang="en-US" sz="850" dirty="0"/>
          </a:p>
        </p:txBody>
      </p:sp>
      <p:sp>
        <p:nvSpPr>
          <p:cNvPr id="19" name="Text 17"/>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B34"/>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10-minute demo storyline</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BBD4E6"/>
                </a:solidFill>
                <a:latin typeface="Aptos" pitchFamily="34" charset="0"/>
                <a:ea typeface="Aptos" pitchFamily="34" charset="-122"/>
                <a:cs typeface="Aptos" pitchFamily="34" charset="-120"/>
              </a:rPr>
              <a:t>A simple flow affiliates can use or request from ADAMftd.</a:t>
            </a:r>
            <a:endParaRPr lang="en-US" sz="1180" dirty="0"/>
          </a:p>
        </p:txBody>
      </p:sp>
      <p:sp>
        <p:nvSpPr>
          <p:cNvPr id="4" name="Shape 2"/>
          <p:cNvSpPr/>
          <p:nvPr/>
        </p:nvSpPr>
        <p:spPr>
          <a:xfrm>
            <a:off x="1645920" y="1920240"/>
            <a:ext cx="1371600" cy="0"/>
          </a:xfrm>
          <a:prstGeom prst="line">
            <a:avLst/>
          </a:prstGeom>
          <a:noFill/>
          <a:ln w="27940">
            <a:solidFill>
              <a:srgbClr val="00A99D"/>
            </a:solidFill>
            <a:prstDash val="solid"/>
          </a:ln>
        </p:spPr>
        <p:txBody>
          <a:bodyPr/>
          <a:lstStyle/>
          <a:p>
            <a:endParaRPr lang="en-GB"/>
          </a:p>
        </p:txBody>
      </p:sp>
      <p:sp>
        <p:nvSpPr>
          <p:cNvPr id="5" name="Shape 3"/>
          <p:cNvSpPr/>
          <p:nvPr/>
        </p:nvSpPr>
        <p:spPr>
          <a:xfrm>
            <a:off x="1307592" y="1664208"/>
            <a:ext cx="530352" cy="530352"/>
          </a:xfrm>
          <a:prstGeom prst="ellipse">
            <a:avLst/>
          </a:prstGeom>
          <a:solidFill>
            <a:srgbClr val="061B34"/>
          </a:solidFill>
          <a:ln w="17780">
            <a:solidFill>
              <a:srgbClr val="00A99D"/>
            </a:solidFill>
            <a:prstDash val="solid"/>
          </a:ln>
        </p:spPr>
        <p:txBody>
          <a:bodyPr/>
          <a:lstStyle/>
          <a:p>
            <a:endParaRPr lang="en-GB"/>
          </a:p>
        </p:txBody>
      </p:sp>
      <p:sp>
        <p:nvSpPr>
          <p:cNvPr id="6" name="Text 4"/>
          <p:cNvSpPr/>
          <p:nvPr/>
        </p:nvSpPr>
        <p:spPr>
          <a:xfrm>
            <a:off x="1307592" y="1764792"/>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1</a:t>
            </a:r>
            <a:endParaRPr lang="en-US" sz="1800" dirty="0"/>
          </a:p>
        </p:txBody>
      </p:sp>
      <p:sp>
        <p:nvSpPr>
          <p:cNvPr id="7" name="Text 5"/>
          <p:cNvSpPr/>
          <p:nvPr/>
        </p:nvSpPr>
        <p:spPr>
          <a:xfrm>
            <a:off x="777240" y="2423160"/>
            <a:ext cx="1554480" cy="201168"/>
          </a:xfrm>
          <a:prstGeom prst="rect">
            <a:avLst/>
          </a:prstGeom>
          <a:noFill/>
          <a:ln/>
        </p:spPr>
        <p:txBody>
          <a:bodyPr wrap="square" lIns="0" tIns="0" rIns="0" bIns="0" rtlCol="0" anchor="ctr"/>
          <a:lstStyle/>
          <a:p>
            <a:pPr marL="0" indent="0" algn="ctr">
              <a:buNone/>
            </a:pPr>
            <a:r>
              <a:rPr lang="en-US" sz="1100" b="1" dirty="0">
                <a:solidFill>
                  <a:srgbClr val="00A99D"/>
                </a:solidFill>
                <a:latin typeface="Aptos" pitchFamily="34" charset="0"/>
                <a:ea typeface="Aptos" pitchFamily="34" charset="-122"/>
                <a:cs typeface="Aptos" pitchFamily="34" charset="-120"/>
              </a:rPr>
              <a:t>0–2 min</a:t>
            </a:r>
            <a:endParaRPr lang="en-US" sz="1100" dirty="0"/>
          </a:p>
        </p:txBody>
      </p:sp>
      <p:sp>
        <p:nvSpPr>
          <p:cNvPr id="8" name="Text 6"/>
          <p:cNvSpPr/>
          <p:nvPr/>
        </p:nvSpPr>
        <p:spPr>
          <a:xfrm>
            <a:off x="612648" y="2761488"/>
            <a:ext cx="1828800" cy="640080"/>
          </a:xfrm>
          <a:prstGeom prst="rect">
            <a:avLst/>
          </a:prstGeom>
          <a:noFill/>
          <a:ln/>
        </p:spPr>
        <p:txBody>
          <a:bodyPr wrap="square" lIns="127" tIns="127" rIns="127" bIns="127" rtlCol="0" anchor="ctr">
            <a:normAutofit/>
          </a:bodyPr>
          <a:lstStyle/>
          <a:p>
            <a:pPr marL="0" indent="0" algn="ctr">
              <a:buNone/>
            </a:pPr>
            <a:r>
              <a:rPr lang="en-US" sz="1550" b="1" dirty="0">
                <a:solidFill>
                  <a:srgbClr val="FFFFFF"/>
                </a:solidFill>
                <a:latin typeface="Aptos Display" pitchFamily="34" charset="0"/>
                <a:ea typeface="Aptos Display" pitchFamily="34" charset="-122"/>
                <a:cs typeface="Aptos Display" pitchFamily="34" charset="-120"/>
              </a:rPr>
              <a:t>Set the business question</a:t>
            </a:r>
            <a:endParaRPr lang="en-US" sz="1550" dirty="0"/>
          </a:p>
        </p:txBody>
      </p:sp>
      <p:sp>
        <p:nvSpPr>
          <p:cNvPr id="9" name="Shape 7"/>
          <p:cNvSpPr/>
          <p:nvPr/>
        </p:nvSpPr>
        <p:spPr>
          <a:xfrm>
            <a:off x="3886200" y="1920240"/>
            <a:ext cx="1371600" cy="0"/>
          </a:xfrm>
          <a:prstGeom prst="line">
            <a:avLst/>
          </a:prstGeom>
          <a:noFill/>
          <a:ln w="27940">
            <a:solidFill>
              <a:srgbClr val="00A99D"/>
            </a:solidFill>
            <a:prstDash val="solid"/>
          </a:ln>
        </p:spPr>
        <p:txBody>
          <a:bodyPr/>
          <a:lstStyle/>
          <a:p>
            <a:endParaRPr lang="en-GB"/>
          </a:p>
        </p:txBody>
      </p:sp>
      <p:sp>
        <p:nvSpPr>
          <p:cNvPr id="10" name="Shape 8"/>
          <p:cNvSpPr/>
          <p:nvPr/>
        </p:nvSpPr>
        <p:spPr>
          <a:xfrm>
            <a:off x="3547872" y="1664208"/>
            <a:ext cx="530352" cy="530352"/>
          </a:xfrm>
          <a:prstGeom prst="ellipse">
            <a:avLst/>
          </a:prstGeom>
          <a:solidFill>
            <a:srgbClr val="061B34"/>
          </a:solidFill>
          <a:ln w="17780">
            <a:solidFill>
              <a:srgbClr val="00A99D"/>
            </a:solidFill>
            <a:prstDash val="solid"/>
          </a:ln>
        </p:spPr>
        <p:txBody>
          <a:bodyPr/>
          <a:lstStyle/>
          <a:p>
            <a:endParaRPr lang="en-GB"/>
          </a:p>
        </p:txBody>
      </p:sp>
      <p:sp>
        <p:nvSpPr>
          <p:cNvPr id="11" name="Text 9"/>
          <p:cNvSpPr/>
          <p:nvPr/>
        </p:nvSpPr>
        <p:spPr>
          <a:xfrm>
            <a:off x="3547872" y="1764792"/>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2</a:t>
            </a:r>
            <a:endParaRPr lang="en-US" sz="1800" dirty="0"/>
          </a:p>
        </p:txBody>
      </p:sp>
      <p:sp>
        <p:nvSpPr>
          <p:cNvPr id="12" name="Text 10"/>
          <p:cNvSpPr/>
          <p:nvPr/>
        </p:nvSpPr>
        <p:spPr>
          <a:xfrm>
            <a:off x="3017520" y="2423160"/>
            <a:ext cx="1554480" cy="201168"/>
          </a:xfrm>
          <a:prstGeom prst="rect">
            <a:avLst/>
          </a:prstGeom>
          <a:noFill/>
          <a:ln/>
        </p:spPr>
        <p:txBody>
          <a:bodyPr wrap="square" lIns="0" tIns="0" rIns="0" bIns="0" rtlCol="0" anchor="ctr"/>
          <a:lstStyle/>
          <a:p>
            <a:pPr marL="0" indent="0" algn="ctr">
              <a:buNone/>
            </a:pPr>
            <a:r>
              <a:rPr lang="en-US" sz="1100" b="1" dirty="0">
                <a:solidFill>
                  <a:srgbClr val="00A99D"/>
                </a:solidFill>
                <a:latin typeface="Aptos" pitchFamily="34" charset="0"/>
                <a:ea typeface="Aptos" pitchFamily="34" charset="-122"/>
                <a:cs typeface="Aptos" pitchFamily="34" charset="-120"/>
              </a:rPr>
              <a:t>2–4 min</a:t>
            </a:r>
            <a:endParaRPr lang="en-US" sz="1100" dirty="0"/>
          </a:p>
        </p:txBody>
      </p:sp>
      <p:sp>
        <p:nvSpPr>
          <p:cNvPr id="13" name="Text 11"/>
          <p:cNvSpPr/>
          <p:nvPr/>
        </p:nvSpPr>
        <p:spPr>
          <a:xfrm>
            <a:off x="2852928" y="2761488"/>
            <a:ext cx="1828800" cy="640080"/>
          </a:xfrm>
          <a:prstGeom prst="rect">
            <a:avLst/>
          </a:prstGeom>
          <a:noFill/>
          <a:ln/>
        </p:spPr>
        <p:txBody>
          <a:bodyPr wrap="square" lIns="127" tIns="127" rIns="127" bIns="127" rtlCol="0" anchor="ctr">
            <a:normAutofit/>
          </a:bodyPr>
          <a:lstStyle/>
          <a:p>
            <a:pPr marL="0" indent="0" algn="ctr">
              <a:buNone/>
            </a:pPr>
            <a:r>
              <a:rPr lang="en-US" sz="1550" b="1" dirty="0">
                <a:solidFill>
                  <a:srgbClr val="FFFFFF"/>
                </a:solidFill>
                <a:latin typeface="Aptos Display" pitchFamily="34" charset="0"/>
                <a:ea typeface="Aptos Display" pitchFamily="34" charset="-122"/>
                <a:cs typeface="Aptos Display" pitchFamily="34" charset="-120"/>
              </a:rPr>
              <a:t>Search product / company / trade lane</a:t>
            </a:r>
            <a:endParaRPr lang="en-US" sz="1550" dirty="0"/>
          </a:p>
        </p:txBody>
      </p:sp>
      <p:sp>
        <p:nvSpPr>
          <p:cNvPr id="14" name="Shape 12"/>
          <p:cNvSpPr/>
          <p:nvPr/>
        </p:nvSpPr>
        <p:spPr>
          <a:xfrm>
            <a:off x="6126480" y="1920240"/>
            <a:ext cx="1371600" cy="0"/>
          </a:xfrm>
          <a:prstGeom prst="line">
            <a:avLst/>
          </a:prstGeom>
          <a:noFill/>
          <a:ln w="27940">
            <a:solidFill>
              <a:srgbClr val="00A99D"/>
            </a:solidFill>
            <a:prstDash val="solid"/>
          </a:ln>
        </p:spPr>
        <p:txBody>
          <a:bodyPr/>
          <a:lstStyle/>
          <a:p>
            <a:endParaRPr lang="en-GB"/>
          </a:p>
        </p:txBody>
      </p:sp>
      <p:sp>
        <p:nvSpPr>
          <p:cNvPr id="15" name="Shape 13"/>
          <p:cNvSpPr/>
          <p:nvPr/>
        </p:nvSpPr>
        <p:spPr>
          <a:xfrm>
            <a:off x="5788152" y="1664208"/>
            <a:ext cx="530352" cy="530352"/>
          </a:xfrm>
          <a:prstGeom prst="ellipse">
            <a:avLst/>
          </a:prstGeom>
          <a:solidFill>
            <a:srgbClr val="061B34"/>
          </a:solidFill>
          <a:ln w="17780">
            <a:solidFill>
              <a:srgbClr val="00A99D"/>
            </a:solidFill>
            <a:prstDash val="solid"/>
          </a:ln>
        </p:spPr>
        <p:txBody>
          <a:bodyPr/>
          <a:lstStyle/>
          <a:p>
            <a:endParaRPr lang="en-GB"/>
          </a:p>
        </p:txBody>
      </p:sp>
      <p:sp>
        <p:nvSpPr>
          <p:cNvPr id="16" name="Text 14"/>
          <p:cNvSpPr/>
          <p:nvPr/>
        </p:nvSpPr>
        <p:spPr>
          <a:xfrm>
            <a:off x="5788152" y="1764792"/>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3</a:t>
            </a:r>
            <a:endParaRPr lang="en-US" sz="1800" dirty="0"/>
          </a:p>
        </p:txBody>
      </p:sp>
      <p:sp>
        <p:nvSpPr>
          <p:cNvPr id="17" name="Text 15"/>
          <p:cNvSpPr/>
          <p:nvPr/>
        </p:nvSpPr>
        <p:spPr>
          <a:xfrm>
            <a:off x="5257800" y="2423160"/>
            <a:ext cx="1554480" cy="201168"/>
          </a:xfrm>
          <a:prstGeom prst="rect">
            <a:avLst/>
          </a:prstGeom>
          <a:noFill/>
          <a:ln/>
        </p:spPr>
        <p:txBody>
          <a:bodyPr wrap="square" lIns="0" tIns="0" rIns="0" bIns="0" rtlCol="0" anchor="ctr"/>
          <a:lstStyle/>
          <a:p>
            <a:pPr marL="0" indent="0" algn="ctr">
              <a:buNone/>
            </a:pPr>
            <a:r>
              <a:rPr lang="en-US" sz="1100" b="1" dirty="0">
                <a:solidFill>
                  <a:srgbClr val="00A99D"/>
                </a:solidFill>
                <a:latin typeface="Aptos" pitchFamily="34" charset="0"/>
                <a:ea typeface="Aptos" pitchFamily="34" charset="-122"/>
                <a:cs typeface="Aptos" pitchFamily="34" charset="-120"/>
              </a:rPr>
              <a:t>4–6 min</a:t>
            </a:r>
            <a:endParaRPr lang="en-US" sz="1100" dirty="0"/>
          </a:p>
        </p:txBody>
      </p:sp>
      <p:sp>
        <p:nvSpPr>
          <p:cNvPr id="18" name="Text 16"/>
          <p:cNvSpPr/>
          <p:nvPr/>
        </p:nvSpPr>
        <p:spPr>
          <a:xfrm>
            <a:off x="5093208" y="2761488"/>
            <a:ext cx="1828800" cy="640080"/>
          </a:xfrm>
          <a:prstGeom prst="rect">
            <a:avLst/>
          </a:prstGeom>
          <a:noFill/>
          <a:ln/>
        </p:spPr>
        <p:txBody>
          <a:bodyPr wrap="square" lIns="127" tIns="127" rIns="127" bIns="127" rtlCol="0" anchor="ctr">
            <a:normAutofit/>
          </a:bodyPr>
          <a:lstStyle/>
          <a:p>
            <a:pPr marL="0" indent="0" algn="ctr">
              <a:buNone/>
            </a:pPr>
            <a:r>
              <a:rPr lang="en-US" sz="1550" b="1" dirty="0">
                <a:solidFill>
                  <a:srgbClr val="FFFFFF"/>
                </a:solidFill>
                <a:latin typeface="Aptos Display" pitchFamily="34" charset="0"/>
                <a:ea typeface="Aptos Display" pitchFamily="34" charset="-122"/>
                <a:cs typeface="Aptos Display" pitchFamily="34" charset="-120"/>
              </a:rPr>
              <a:t>Show evidence and risk context</a:t>
            </a:r>
            <a:endParaRPr lang="en-US" sz="1550" dirty="0"/>
          </a:p>
        </p:txBody>
      </p:sp>
      <p:sp>
        <p:nvSpPr>
          <p:cNvPr id="19" name="Shape 17"/>
          <p:cNvSpPr/>
          <p:nvPr/>
        </p:nvSpPr>
        <p:spPr>
          <a:xfrm>
            <a:off x="8366760" y="1920240"/>
            <a:ext cx="1371600" cy="0"/>
          </a:xfrm>
          <a:prstGeom prst="line">
            <a:avLst/>
          </a:prstGeom>
          <a:noFill/>
          <a:ln w="27940">
            <a:solidFill>
              <a:srgbClr val="00A99D"/>
            </a:solidFill>
            <a:prstDash val="solid"/>
          </a:ln>
        </p:spPr>
        <p:txBody>
          <a:bodyPr/>
          <a:lstStyle/>
          <a:p>
            <a:endParaRPr lang="en-GB"/>
          </a:p>
        </p:txBody>
      </p:sp>
      <p:sp>
        <p:nvSpPr>
          <p:cNvPr id="20" name="Shape 18"/>
          <p:cNvSpPr/>
          <p:nvPr/>
        </p:nvSpPr>
        <p:spPr>
          <a:xfrm>
            <a:off x="8028432" y="1664208"/>
            <a:ext cx="530352" cy="530352"/>
          </a:xfrm>
          <a:prstGeom prst="ellipse">
            <a:avLst/>
          </a:prstGeom>
          <a:solidFill>
            <a:srgbClr val="061B34"/>
          </a:solidFill>
          <a:ln w="17780">
            <a:solidFill>
              <a:srgbClr val="00A99D"/>
            </a:solidFill>
            <a:prstDash val="solid"/>
          </a:ln>
        </p:spPr>
        <p:txBody>
          <a:bodyPr/>
          <a:lstStyle/>
          <a:p>
            <a:endParaRPr lang="en-GB"/>
          </a:p>
        </p:txBody>
      </p:sp>
      <p:sp>
        <p:nvSpPr>
          <p:cNvPr id="21" name="Text 19"/>
          <p:cNvSpPr/>
          <p:nvPr/>
        </p:nvSpPr>
        <p:spPr>
          <a:xfrm>
            <a:off x="8028432" y="1764792"/>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4</a:t>
            </a:r>
            <a:endParaRPr lang="en-US" sz="1800" dirty="0"/>
          </a:p>
        </p:txBody>
      </p:sp>
      <p:sp>
        <p:nvSpPr>
          <p:cNvPr id="22" name="Text 20"/>
          <p:cNvSpPr/>
          <p:nvPr/>
        </p:nvSpPr>
        <p:spPr>
          <a:xfrm>
            <a:off x="7498080" y="2423160"/>
            <a:ext cx="1554480" cy="201168"/>
          </a:xfrm>
          <a:prstGeom prst="rect">
            <a:avLst/>
          </a:prstGeom>
          <a:noFill/>
          <a:ln/>
        </p:spPr>
        <p:txBody>
          <a:bodyPr wrap="square" lIns="0" tIns="0" rIns="0" bIns="0" rtlCol="0" anchor="ctr"/>
          <a:lstStyle/>
          <a:p>
            <a:pPr marL="0" indent="0" algn="ctr">
              <a:buNone/>
            </a:pPr>
            <a:r>
              <a:rPr lang="en-US" sz="1100" b="1" dirty="0">
                <a:solidFill>
                  <a:srgbClr val="00A99D"/>
                </a:solidFill>
                <a:latin typeface="Aptos" pitchFamily="34" charset="0"/>
                <a:ea typeface="Aptos" pitchFamily="34" charset="-122"/>
                <a:cs typeface="Aptos" pitchFamily="34" charset="-120"/>
              </a:rPr>
              <a:t>6–8 min</a:t>
            </a:r>
            <a:endParaRPr lang="en-US" sz="1100" dirty="0"/>
          </a:p>
        </p:txBody>
      </p:sp>
      <p:sp>
        <p:nvSpPr>
          <p:cNvPr id="23" name="Text 21"/>
          <p:cNvSpPr/>
          <p:nvPr/>
        </p:nvSpPr>
        <p:spPr>
          <a:xfrm>
            <a:off x="7333488" y="2761488"/>
            <a:ext cx="1828800" cy="640080"/>
          </a:xfrm>
          <a:prstGeom prst="rect">
            <a:avLst/>
          </a:prstGeom>
          <a:noFill/>
          <a:ln/>
        </p:spPr>
        <p:txBody>
          <a:bodyPr wrap="square" lIns="127" tIns="127" rIns="127" bIns="127" rtlCol="0" anchor="ctr">
            <a:normAutofit/>
          </a:bodyPr>
          <a:lstStyle/>
          <a:p>
            <a:pPr marL="0" indent="0" algn="ctr">
              <a:buNone/>
            </a:pPr>
            <a:r>
              <a:rPr lang="en-US" sz="1550" b="1" dirty="0">
                <a:solidFill>
                  <a:srgbClr val="FFFFFF"/>
                </a:solidFill>
                <a:latin typeface="Aptos Display" pitchFamily="34" charset="0"/>
                <a:ea typeface="Aptos Display" pitchFamily="34" charset="-122"/>
                <a:cs typeface="Aptos Display" pitchFamily="34" charset="-120"/>
              </a:rPr>
              <a:t>Review market, tariff or price exposure</a:t>
            </a:r>
            <a:endParaRPr lang="en-US" sz="1550" dirty="0"/>
          </a:p>
        </p:txBody>
      </p:sp>
      <p:sp>
        <p:nvSpPr>
          <p:cNvPr id="24" name="Shape 22"/>
          <p:cNvSpPr/>
          <p:nvPr/>
        </p:nvSpPr>
        <p:spPr>
          <a:xfrm>
            <a:off x="10607040" y="1920240"/>
            <a:ext cx="0" cy="0"/>
          </a:xfrm>
          <a:prstGeom prst="line">
            <a:avLst/>
          </a:prstGeom>
          <a:noFill/>
          <a:ln w="27940">
            <a:solidFill>
              <a:srgbClr val="00A99D">
                <a:alpha val="0"/>
              </a:srgbClr>
            </a:solidFill>
            <a:prstDash val="solid"/>
          </a:ln>
        </p:spPr>
        <p:txBody>
          <a:bodyPr/>
          <a:lstStyle/>
          <a:p>
            <a:endParaRPr lang="en-GB"/>
          </a:p>
        </p:txBody>
      </p:sp>
      <p:sp>
        <p:nvSpPr>
          <p:cNvPr id="25" name="Shape 23"/>
          <p:cNvSpPr/>
          <p:nvPr/>
        </p:nvSpPr>
        <p:spPr>
          <a:xfrm>
            <a:off x="10268712" y="1664208"/>
            <a:ext cx="530352" cy="530352"/>
          </a:xfrm>
          <a:prstGeom prst="ellipse">
            <a:avLst/>
          </a:prstGeom>
          <a:solidFill>
            <a:srgbClr val="061B34"/>
          </a:solidFill>
          <a:ln w="17780">
            <a:solidFill>
              <a:srgbClr val="F59E0B"/>
            </a:solidFill>
            <a:prstDash val="solid"/>
          </a:ln>
        </p:spPr>
        <p:txBody>
          <a:bodyPr/>
          <a:lstStyle/>
          <a:p>
            <a:endParaRPr lang="en-GB"/>
          </a:p>
        </p:txBody>
      </p:sp>
      <p:sp>
        <p:nvSpPr>
          <p:cNvPr id="26" name="Text 24"/>
          <p:cNvSpPr/>
          <p:nvPr/>
        </p:nvSpPr>
        <p:spPr>
          <a:xfrm>
            <a:off x="10268712" y="1764792"/>
            <a:ext cx="530352" cy="228600"/>
          </a:xfrm>
          <a:prstGeom prst="rect">
            <a:avLst/>
          </a:prstGeom>
          <a:noFill/>
          <a:ln/>
        </p:spPr>
        <p:txBody>
          <a:bodyPr wrap="square" lIns="0" tIns="0" rIns="0" bIns="0" rtlCol="0" anchor="ctr"/>
          <a:lstStyle/>
          <a:p>
            <a:pPr marL="0" indent="0" algn="ctr">
              <a:buNone/>
            </a:pPr>
            <a:r>
              <a:rPr lang="en-US" sz="1800" b="1" dirty="0">
                <a:solidFill>
                  <a:srgbClr val="F59E0B"/>
                </a:solidFill>
                <a:latin typeface="Aptos Display" pitchFamily="34" charset="0"/>
                <a:ea typeface="Aptos Display" pitchFamily="34" charset="-122"/>
                <a:cs typeface="Aptos Display" pitchFamily="34" charset="-120"/>
              </a:rPr>
              <a:t>5</a:t>
            </a:r>
            <a:endParaRPr lang="en-US" sz="1800" dirty="0"/>
          </a:p>
        </p:txBody>
      </p:sp>
      <p:sp>
        <p:nvSpPr>
          <p:cNvPr id="27" name="Text 25"/>
          <p:cNvSpPr/>
          <p:nvPr/>
        </p:nvSpPr>
        <p:spPr>
          <a:xfrm>
            <a:off x="9738360" y="2423160"/>
            <a:ext cx="1554480" cy="201168"/>
          </a:xfrm>
          <a:prstGeom prst="rect">
            <a:avLst/>
          </a:prstGeom>
          <a:noFill/>
          <a:ln/>
        </p:spPr>
        <p:txBody>
          <a:bodyPr wrap="square" lIns="0" tIns="0" rIns="0" bIns="0" rtlCol="0" anchor="ctr"/>
          <a:lstStyle/>
          <a:p>
            <a:pPr marL="0" indent="0" algn="ctr">
              <a:buNone/>
            </a:pPr>
            <a:r>
              <a:rPr lang="en-US" sz="1100" b="1" dirty="0">
                <a:solidFill>
                  <a:srgbClr val="00A99D"/>
                </a:solidFill>
                <a:latin typeface="Aptos" pitchFamily="34" charset="0"/>
                <a:ea typeface="Aptos" pitchFamily="34" charset="-122"/>
                <a:cs typeface="Aptos" pitchFamily="34" charset="-120"/>
              </a:rPr>
              <a:t>8–10 min</a:t>
            </a:r>
            <a:endParaRPr lang="en-US" sz="1100" dirty="0"/>
          </a:p>
        </p:txBody>
      </p:sp>
      <p:sp>
        <p:nvSpPr>
          <p:cNvPr id="28" name="Text 26"/>
          <p:cNvSpPr/>
          <p:nvPr/>
        </p:nvSpPr>
        <p:spPr>
          <a:xfrm>
            <a:off x="9573768" y="2761488"/>
            <a:ext cx="1828800" cy="640080"/>
          </a:xfrm>
          <a:prstGeom prst="rect">
            <a:avLst/>
          </a:prstGeom>
          <a:noFill/>
          <a:ln/>
        </p:spPr>
        <p:txBody>
          <a:bodyPr wrap="square" lIns="127" tIns="127" rIns="127" bIns="127" rtlCol="0" anchor="ctr">
            <a:normAutofit/>
          </a:bodyPr>
          <a:lstStyle/>
          <a:p>
            <a:pPr marL="0" indent="0" algn="ctr">
              <a:buNone/>
            </a:pPr>
            <a:r>
              <a:rPr lang="en-US" sz="1550" b="1" dirty="0">
                <a:solidFill>
                  <a:srgbClr val="FFFFFF"/>
                </a:solidFill>
                <a:latin typeface="Aptos Display" pitchFamily="34" charset="0"/>
                <a:ea typeface="Aptos Display" pitchFamily="34" charset="-122"/>
                <a:cs typeface="Aptos Display" pitchFamily="34" charset="-120"/>
              </a:rPr>
              <a:t>Ask for next step</a:t>
            </a:r>
            <a:endParaRPr lang="en-US" sz="1550" dirty="0"/>
          </a:p>
        </p:txBody>
      </p:sp>
      <p:sp>
        <p:nvSpPr>
          <p:cNvPr id="29" name="Shape 27"/>
          <p:cNvSpPr/>
          <p:nvPr/>
        </p:nvSpPr>
        <p:spPr>
          <a:xfrm>
            <a:off x="1051560" y="4434840"/>
            <a:ext cx="10058400" cy="1005840"/>
          </a:xfrm>
          <a:prstGeom prst="roundRect">
            <a:avLst>
              <a:gd name="adj" fmla="val 12727"/>
            </a:avLst>
          </a:prstGeom>
          <a:solidFill>
            <a:srgbClr val="082B52"/>
          </a:solidFill>
          <a:ln w="12700">
            <a:solidFill>
              <a:srgbClr val="27516E"/>
            </a:solidFill>
            <a:prstDash val="solid"/>
          </a:ln>
        </p:spPr>
        <p:txBody>
          <a:bodyPr/>
          <a:lstStyle/>
          <a:p>
            <a:endParaRPr lang="en-GB"/>
          </a:p>
        </p:txBody>
      </p:sp>
      <p:sp>
        <p:nvSpPr>
          <p:cNvPr id="30" name="Text 28"/>
          <p:cNvSpPr/>
          <p:nvPr/>
        </p:nvSpPr>
        <p:spPr>
          <a:xfrm>
            <a:off x="1325880" y="4690872"/>
            <a:ext cx="2834640" cy="228600"/>
          </a:xfrm>
          <a:prstGeom prst="rect">
            <a:avLst/>
          </a:prstGeom>
          <a:noFill/>
          <a:ln/>
        </p:spPr>
        <p:txBody>
          <a:bodyPr wrap="square" lIns="0" tIns="0" rIns="0" bIns="0" rtlCol="0" anchor="ctr"/>
          <a:lstStyle/>
          <a:p>
            <a:pPr marL="0" indent="0">
              <a:buNone/>
            </a:pPr>
            <a:r>
              <a:rPr lang="en-US" sz="1300" b="1" dirty="0">
                <a:solidFill>
                  <a:srgbClr val="F59E0B"/>
                </a:solidFill>
                <a:latin typeface="Aptos" pitchFamily="34" charset="0"/>
                <a:ea typeface="Aptos" pitchFamily="34" charset="-122"/>
                <a:cs typeface="Aptos" pitchFamily="34" charset="-120"/>
              </a:rPr>
              <a:t>Always close with one action:</a:t>
            </a:r>
            <a:endParaRPr lang="en-US" sz="1300" dirty="0"/>
          </a:p>
        </p:txBody>
      </p:sp>
      <p:sp>
        <p:nvSpPr>
          <p:cNvPr id="31" name="Text 29"/>
          <p:cNvSpPr/>
          <p:nvPr/>
        </p:nvSpPr>
        <p:spPr>
          <a:xfrm>
            <a:off x="4343400" y="4681728"/>
            <a:ext cx="6217920" cy="256032"/>
          </a:xfrm>
          <a:prstGeom prst="rect">
            <a:avLst/>
          </a:prstGeom>
          <a:noFill/>
          <a:ln/>
        </p:spPr>
        <p:txBody>
          <a:bodyPr wrap="square" lIns="254" tIns="254" rIns="254" bIns="254" rtlCol="0" anchor="ctr"/>
          <a:lstStyle/>
          <a:p>
            <a:pPr marL="0" indent="0">
              <a:buNone/>
            </a:pPr>
            <a:r>
              <a:rPr lang="en-US" sz="1650" b="1" dirty="0">
                <a:solidFill>
                  <a:srgbClr val="FFFFFF"/>
                </a:solidFill>
                <a:latin typeface="Aptos Display" pitchFamily="34" charset="0"/>
                <a:ea typeface="Aptos Display" pitchFamily="34" charset="-122"/>
                <a:cs typeface="Aptos Display" pitchFamily="34" charset="-120"/>
              </a:rPr>
              <a:t>“Register through my partner link and test this on your own product, company or market.”</a:t>
            </a:r>
            <a:endParaRPr lang="en-US" sz="1650" dirty="0"/>
          </a:p>
        </p:txBody>
      </p:sp>
      <p:sp>
        <p:nvSpPr>
          <p:cNvPr id="32" name="Text 30"/>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D9EAF4"/>
                </a:solidFill>
                <a:latin typeface="Aptos" pitchFamily="34" charset="0"/>
                <a:ea typeface="Aptos" pitchFamily="34" charset="-122"/>
                <a:cs typeface="Aptos" pitchFamily="34" charset="-120"/>
              </a:rPr>
              <a:t>ADAMftd Affiliate Kit · ADAMftd.com</a:t>
            </a:r>
            <a:endParaRPr lang="en-US" sz="850" dirty="0"/>
          </a:p>
        </p:txBody>
      </p:sp>
      <p:sp>
        <p:nvSpPr>
          <p:cNvPr id="33" name="Text 31"/>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D9EAF4"/>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Partner offer and CTA</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64748B"/>
                </a:solidFill>
                <a:latin typeface="Aptos" pitchFamily="34" charset="0"/>
                <a:ea typeface="Aptos" pitchFamily="34" charset="-122"/>
                <a:cs typeface="Aptos" pitchFamily="34" charset="-120"/>
              </a:rPr>
              <a:t>Keep the commercial message simple and repeatable.</a:t>
            </a:r>
            <a:endParaRPr lang="en-US" sz="1180" dirty="0"/>
          </a:p>
        </p:txBody>
      </p:sp>
      <p:sp>
        <p:nvSpPr>
          <p:cNvPr id="4" name="Shape 2"/>
          <p:cNvSpPr/>
          <p:nvPr/>
        </p:nvSpPr>
        <p:spPr>
          <a:xfrm>
            <a:off x="777240" y="1417320"/>
            <a:ext cx="3383280" cy="1828800"/>
          </a:xfrm>
          <a:prstGeom prst="roundRect">
            <a:avLst>
              <a:gd name="adj" fmla="val 7500"/>
            </a:avLst>
          </a:prstGeom>
          <a:solidFill>
            <a:srgbClr val="FFFFFF"/>
          </a:solidFill>
          <a:ln w="12700">
            <a:solidFill>
              <a:srgbClr val="D8E4EE"/>
            </a:solidFill>
            <a:prstDash val="solid"/>
          </a:ln>
        </p:spPr>
        <p:txBody>
          <a:bodyPr/>
          <a:lstStyle/>
          <a:p>
            <a:endParaRPr lang="en-GB"/>
          </a:p>
        </p:txBody>
      </p:sp>
      <p:sp>
        <p:nvSpPr>
          <p:cNvPr id="5" name="Shape 3"/>
          <p:cNvSpPr/>
          <p:nvPr/>
        </p:nvSpPr>
        <p:spPr>
          <a:xfrm>
            <a:off x="1097280" y="1783080"/>
            <a:ext cx="530352" cy="530352"/>
          </a:xfrm>
          <a:prstGeom prst="ellipse">
            <a:avLst/>
          </a:prstGeom>
          <a:solidFill>
            <a:srgbClr val="E9FBF8"/>
          </a:solidFill>
          <a:ln w="17780">
            <a:solidFill>
              <a:srgbClr val="00A99D"/>
            </a:solidFill>
            <a:prstDash val="solid"/>
          </a:ln>
        </p:spPr>
        <p:txBody>
          <a:bodyPr/>
          <a:lstStyle/>
          <a:p>
            <a:endParaRPr lang="en-GB"/>
          </a:p>
        </p:txBody>
      </p:sp>
      <p:sp>
        <p:nvSpPr>
          <p:cNvPr id="6" name="Text 4"/>
          <p:cNvSpPr/>
          <p:nvPr/>
        </p:nvSpPr>
        <p:spPr>
          <a:xfrm>
            <a:off x="1097280" y="1883664"/>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a:t>
            </a:r>
            <a:endParaRPr lang="en-US" sz="1800" dirty="0"/>
          </a:p>
        </p:txBody>
      </p:sp>
      <p:sp>
        <p:nvSpPr>
          <p:cNvPr id="7" name="Text 5"/>
          <p:cNvSpPr/>
          <p:nvPr/>
        </p:nvSpPr>
        <p:spPr>
          <a:xfrm>
            <a:off x="1737360" y="1719072"/>
            <a:ext cx="2057400" cy="320040"/>
          </a:xfrm>
          <a:prstGeom prst="rect">
            <a:avLst/>
          </a:prstGeom>
          <a:noFill/>
          <a:ln/>
        </p:spPr>
        <p:txBody>
          <a:bodyPr wrap="square" lIns="0" tIns="0" rIns="0" bIns="0" rtlCol="0" anchor="ctr">
            <a:normAutofit/>
          </a:bodyPr>
          <a:lstStyle/>
          <a:p>
            <a:pPr marL="0" indent="0">
              <a:buNone/>
            </a:pPr>
            <a:r>
              <a:rPr lang="en-US" sz="1900" b="1" dirty="0">
                <a:solidFill>
                  <a:srgbClr val="0B1F33"/>
                </a:solidFill>
                <a:latin typeface="Aptos Display" pitchFamily="34" charset="0"/>
                <a:ea typeface="Aptos Display" pitchFamily="34" charset="-122"/>
                <a:cs typeface="Aptos Display" pitchFamily="34" charset="-120"/>
              </a:rPr>
              <a:t>50 signup credits</a:t>
            </a:r>
            <a:endParaRPr lang="en-US" sz="1900" dirty="0"/>
          </a:p>
        </p:txBody>
      </p:sp>
      <p:sp>
        <p:nvSpPr>
          <p:cNvPr id="8" name="Text 6"/>
          <p:cNvSpPr/>
          <p:nvPr/>
        </p:nvSpPr>
        <p:spPr>
          <a:xfrm>
            <a:off x="1737360" y="2212848"/>
            <a:ext cx="1993392" cy="347472"/>
          </a:xfrm>
          <a:prstGeom prst="rect">
            <a:avLst/>
          </a:prstGeom>
          <a:noFill/>
          <a:ln/>
        </p:spPr>
        <p:txBody>
          <a:bodyPr wrap="square" lIns="127" tIns="127" rIns="127" bIns="127" rtlCol="0" anchor="ctr">
            <a:normAutofit/>
          </a:bodyPr>
          <a:lstStyle/>
          <a:p>
            <a:pPr marL="0" indent="0">
              <a:buNone/>
            </a:pPr>
            <a:r>
              <a:rPr lang="en-US" sz="1220" dirty="0">
                <a:solidFill>
                  <a:srgbClr val="64748B"/>
                </a:solidFill>
                <a:latin typeface="Aptos" pitchFamily="34" charset="0"/>
                <a:ea typeface="Aptos" pitchFamily="34" charset="-122"/>
                <a:cs typeface="Aptos" pitchFamily="34" charset="-120"/>
              </a:rPr>
              <a:t>25 standard + 25 partner bonus credits</a:t>
            </a:r>
            <a:endParaRPr lang="en-US" sz="1220" dirty="0"/>
          </a:p>
        </p:txBody>
      </p:sp>
      <p:sp>
        <p:nvSpPr>
          <p:cNvPr id="9" name="Shape 7"/>
          <p:cNvSpPr/>
          <p:nvPr/>
        </p:nvSpPr>
        <p:spPr>
          <a:xfrm>
            <a:off x="4526280" y="1417320"/>
            <a:ext cx="3383280" cy="1828800"/>
          </a:xfrm>
          <a:prstGeom prst="roundRect">
            <a:avLst>
              <a:gd name="adj" fmla="val 7500"/>
            </a:avLst>
          </a:prstGeom>
          <a:solidFill>
            <a:srgbClr val="FFFFFF"/>
          </a:solidFill>
          <a:ln w="12700">
            <a:solidFill>
              <a:srgbClr val="D8E4EE"/>
            </a:solidFill>
            <a:prstDash val="solid"/>
          </a:ln>
        </p:spPr>
        <p:txBody>
          <a:bodyPr/>
          <a:lstStyle/>
          <a:p>
            <a:endParaRPr lang="en-GB"/>
          </a:p>
        </p:txBody>
      </p:sp>
      <p:sp>
        <p:nvSpPr>
          <p:cNvPr id="10" name="Shape 8"/>
          <p:cNvSpPr/>
          <p:nvPr/>
        </p:nvSpPr>
        <p:spPr>
          <a:xfrm>
            <a:off x="4846320" y="1783080"/>
            <a:ext cx="530352" cy="530352"/>
          </a:xfrm>
          <a:prstGeom prst="ellipse">
            <a:avLst/>
          </a:prstGeom>
          <a:solidFill>
            <a:srgbClr val="E9FBF8"/>
          </a:solidFill>
          <a:ln w="17780">
            <a:solidFill>
              <a:srgbClr val="F59E0B"/>
            </a:solidFill>
            <a:prstDash val="solid"/>
          </a:ln>
        </p:spPr>
        <p:txBody>
          <a:bodyPr/>
          <a:lstStyle/>
          <a:p>
            <a:endParaRPr lang="en-GB"/>
          </a:p>
        </p:txBody>
      </p:sp>
      <p:sp>
        <p:nvSpPr>
          <p:cNvPr id="11" name="Text 9"/>
          <p:cNvSpPr/>
          <p:nvPr/>
        </p:nvSpPr>
        <p:spPr>
          <a:xfrm>
            <a:off x="4846320" y="1883664"/>
            <a:ext cx="530352" cy="228600"/>
          </a:xfrm>
          <a:prstGeom prst="rect">
            <a:avLst/>
          </a:prstGeom>
          <a:noFill/>
          <a:ln/>
        </p:spPr>
        <p:txBody>
          <a:bodyPr wrap="square" lIns="0" tIns="0" rIns="0" bIns="0" rtlCol="0" anchor="ctr"/>
          <a:lstStyle/>
          <a:p>
            <a:pPr marL="0" indent="0" algn="ctr">
              <a:buNone/>
            </a:pPr>
            <a:r>
              <a:rPr lang="en-US" sz="1800" b="1" dirty="0">
                <a:solidFill>
                  <a:srgbClr val="F59E0B"/>
                </a:solidFill>
                <a:latin typeface="Aptos Display" pitchFamily="34" charset="0"/>
                <a:ea typeface="Aptos Display" pitchFamily="34" charset="-122"/>
                <a:cs typeface="Aptos Display" pitchFamily="34" charset="-120"/>
              </a:rPr>
              <a:t>$</a:t>
            </a:r>
            <a:endParaRPr lang="en-US" sz="1800" dirty="0"/>
          </a:p>
        </p:txBody>
      </p:sp>
      <p:sp>
        <p:nvSpPr>
          <p:cNvPr id="12" name="Text 10"/>
          <p:cNvSpPr/>
          <p:nvPr/>
        </p:nvSpPr>
        <p:spPr>
          <a:xfrm>
            <a:off x="5486400" y="1719072"/>
            <a:ext cx="2057400" cy="320040"/>
          </a:xfrm>
          <a:prstGeom prst="rect">
            <a:avLst/>
          </a:prstGeom>
          <a:noFill/>
          <a:ln/>
        </p:spPr>
        <p:txBody>
          <a:bodyPr wrap="square" lIns="0" tIns="0" rIns="0" bIns="0" rtlCol="0" anchor="ctr">
            <a:normAutofit/>
          </a:bodyPr>
          <a:lstStyle/>
          <a:p>
            <a:pPr marL="0" indent="0">
              <a:buNone/>
            </a:pPr>
            <a:r>
              <a:rPr lang="en-US" sz="1900" b="1" dirty="0">
                <a:solidFill>
                  <a:srgbClr val="0B1F33"/>
                </a:solidFill>
                <a:latin typeface="Aptos Display" pitchFamily="34" charset="0"/>
                <a:ea typeface="Aptos Display" pitchFamily="34" charset="-122"/>
                <a:cs typeface="Aptos Display" pitchFamily="34" charset="-120"/>
              </a:rPr>
              <a:t>$50 off first paid month</a:t>
            </a:r>
            <a:endParaRPr lang="en-US" sz="1900" dirty="0"/>
          </a:p>
        </p:txBody>
      </p:sp>
      <p:sp>
        <p:nvSpPr>
          <p:cNvPr id="13" name="Text 11"/>
          <p:cNvSpPr/>
          <p:nvPr/>
        </p:nvSpPr>
        <p:spPr>
          <a:xfrm>
            <a:off x="5486400" y="2212848"/>
            <a:ext cx="1993392" cy="347472"/>
          </a:xfrm>
          <a:prstGeom prst="rect">
            <a:avLst/>
          </a:prstGeom>
          <a:noFill/>
          <a:ln/>
        </p:spPr>
        <p:txBody>
          <a:bodyPr wrap="square" lIns="127" tIns="127" rIns="127" bIns="127" rtlCol="0" anchor="ctr">
            <a:normAutofit/>
          </a:bodyPr>
          <a:lstStyle/>
          <a:p>
            <a:pPr marL="0" indent="0">
              <a:buNone/>
            </a:pPr>
            <a:r>
              <a:rPr lang="en-US" sz="1220" dirty="0">
                <a:solidFill>
                  <a:srgbClr val="64748B"/>
                </a:solidFill>
                <a:latin typeface="Aptos" pitchFamily="34" charset="0"/>
                <a:ea typeface="Aptos" pitchFamily="34" charset="-122"/>
                <a:cs typeface="Aptos" pitchFamily="34" charset="-120"/>
              </a:rPr>
              <a:t>Once on first Growth or Pro monthly upgrade</a:t>
            </a:r>
            <a:endParaRPr lang="en-US" sz="1220" dirty="0"/>
          </a:p>
        </p:txBody>
      </p:sp>
      <p:sp>
        <p:nvSpPr>
          <p:cNvPr id="14" name="Shape 12"/>
          <p:cNvSpPr/>
          <p:nvPr/>
        </p:nvSpPr>
        <p:spPr>
          <a:xfrm>
            <a:off x="8275320" y="1417320"/>
            <a:ext cx="3383280" cy="1828800"/>
          </a:xfrm>
          <a:prstGeom prst="roundRect">
            <a:avLst>
              <a:gd name="adj" fmla="val 7500"/>
            </a:avLst>
          </a:prstGeom>
          <a:solidFill>
            <a:srgbClr val="FFFFFF"/>
          </a:solidFill>
          <a:ln w="12700">
            <a:solidFill>
              <a:srgbClr val="D8E4EE"/>
            </a:solidFill>
            <a:prstDash val="solid"/>
          </a:ln>
        </p:spPr>
        <p:txBody>
          <a:bodyPr/>
          <a:lstStyle/>
          <a:p>
            <a:endParaRPr lang="en-GB"/>
          </a:p>
        </p:txBody>
      </p:sp>
      <p:sp>
        <p:nvSpPr>
          <p:cNvPr id="15" name="Shape 13"/>
          <p:cNvSpPr/>
          <p:nvPr/>
        </p:nvSpPr>
        <p:spPr>
          <a:xfrm>
            <a:off x="8595360" y="1783080"/>
            <a:ext cx="530352" cy="530352"/>
          </a:xfrm>
          <a:prstGeom prst="ellipse">
            <a:avLst/>
          </a:prstGeom>
          <a:solidFill>
            <a:srgbClr val="E9FBF8"/>
          </a:solidFill>
          <a:ln w="17780">
            <a:solidFill>
              <a:srgbClr val="00A99D"/>
            </a:solidFill>
            <a:prstDash val="solid"/>
          </a:ln>
        </p:spPr>
        <p:txBody>
          <a:bodyPr/>
          <a:lstStyle/>
          <a:p>
            <a:endParaRPr lang="en-GB"/>
          </a:p>
        </p:txBody>
      </p:sp>
      <p:sp>
        <p:nvSpPr>
          <p:cNvPr id="16" name="Text 14"/>
          <p:cNvSpPr/>
          <p:nvPr/>
        </p:nvSpPr>
        <p:spPr>
          <a:xfrm>
            <a:off x="8595360" y="1883664"/>
            <a:ext cx="530352" cy="228600"/>
          </a:xfrm>
          <a:prstGeom prst="rect">
            <a:avLst/>
          </a:prstGeom>
          <a:noFill/>
          <a:ln/>
        </p:spPr>
        <p:txBody>
          <a:bodyPr wrap="square" lIns="0" tIns="0" rIns="0" bIns="0" rtlCol="0" anchor="ctr"/>
          <a:lstStyle/>
          <a:p>
            <a:pPr marL="0" indent="0" algn="ctr">
              <a:buNone/>
            </a:pPr>
            <a:r>
              <a:rPr lang="en-US" sz="1800" b="1" dirty="0">
                <a:solidFill>
                  <a:srgbClr val="00A99D"/>
                </a:solidFill>
                <a:latin typeface="Aptos Display" pitchFamily="34" charset="0"/>
                <a:ea typeface="Aptos Display" pitchFamily="34" charset="-122"/>
                <a:cs typeface="Aptos Display" pitchFamily="34" charset="-120"/>
              </a:rPr>
              <a:t>R</a:t>
            </a:r>
            <a:endParaRPr lang="en-US" sz="1800" dirty="0"/>
          </a:p>
        </p:txBody>
      </p:sp>
      <p:sp>
        <p:nvSpPr>
          <p:cNvPr id="17" name="Text 15"/>
          <p:cNvSpPr/>
          <p:nvPr/>
        </p:nvSpPr>
        <p:spPr>
          <a:xfrm>
            <a:off x="9235440" y="1719072"/>
            <a:ext cx="2057400" cy="320040"/>
          </a:xfrm>
          <a:prstGeom prst="rect">
            <a:avLst/>
          </a:prstGeom>
          <a:noFill/>
          <a:ln/>
        </p:spPr>
        <p:txBody>
          <a:bodyPr wrap="square" lIns="0" tIns="0" rIns="0" bIns="0" rtlCol="0" anchor="ctr">
            <a:normAutofit/>
          </a:bodyPr>
          <a:lstStyle/>
          <a:p>
            <a:pPr marL="0" indent="0">
              <a:buNone/>
            </a:pPr>
            <a:r>
              <a:rPr lang="en-US" sz="1900" b="1" dirty="0">
                <a:solidFill>
                  <a:srgbClr val="0B1F33"/>
                </a:solidFill>
                <a:latin typeface="Aptos Display" pitchFamily="34" charset="0"/>
                <a:ea typeface="Aptos Display" pitchFamily="34" charset="-122"/>
                <a:cs typeface="Aptos Display" pitchFamily="34" charset="-120"/>
              </a:rPr>
              <a:t>Free Market Report</a:t>
            </a:r>
            <a:endParaRPr lang="en-US" sz="1900" dirty="0"/>
          </a:p>
        </p:txBody>
      </p:sp>
      <p:sp>
        <p:nvSpPr>
          <p:cNvPr id="18" name="Text 16"/>
          <p:cNvSpPr/>
          <p:nvPr/>
        </p:nvSpPr>
        <p:spPr>
          <a:xfrm>
            <a:off x="9235440" y="2212848"/>
            <a:ext cx="1993392" cy="347472"/>
          </a:xfrm>
          <a:prstGeom prst="rect">
            <a:avLst/>
          </a:prstGeom>
          <a:noFill/>
          <a:ln/>
        </p:spPr>
        <p:txBody>
          <a:bodyPr wrap="square" lIns="127" tIns="127" rIns="127" bIns="127" rtlCol="0" anchor="ctr">
            <a:normAutofit/>
          </a:bodyPr>
          <a:lstStyle/>
          <a:p>
            <a:pPr marL="0" indent="0">
              <a:buNone/>
            </a:pPr>
            <a:r>
              <a:rPr lang="en-US" sz="1220" dirty="0">
                <a:solidFill>
                  <a:srgbClr val="64748B"/>
                </a:solidFill>
                <a:latin typeface="Aptos" pitchFamily="34" charset="0"/>
                <a:ea typeface="Aptos" pitchFamily="34" charset="-122"/>
                <a:cs typeface="Aptos" pitchFamily="34" charset="-120"/>
              </a:rPr>
              <a:t>Included with annual Pro signup</a:t>
            </a:r>
            <a:endParaRPr lang="en-US" sz="1220" dirty="0"/>
          </a:p>
        </p:txBody>
      </p:sp>
      <p:sp>
        <p:nvSpPr>
          <p:cNvPr id="19" name="Shape 17"/>
          <p:cNvSpPr/>
          <p:nvPr/>
        </p:nvSpPr>
        <p:spPr>
          <a:xfrm>
            <a:off x="1097280" y="3886200"/>
            <a:ext cx="9966960" cy="1325880"/>
          </a:xfrm>
          <a:prstGeom prst="roundRect">
            <a:avLst>
              <a:gd name="adj" fmla="val 11724"/>
            </a:avLst>
          </a:prstGeom>
          <a:solidFill>
            <a:srgbClr val="061B34"/>
          </a:solidFill>
          <a:ln w="12700">
            <a:solidFill>
              <a:srgbClr val="00A99D"/>
            </a:solidFill>
            <a:prstDash val="solid"/>
          </a:ln>
        </p:spPr>
        <p:txBody>
          <a:bodyPr/>
          <a:lstStyle/>
          <a:p>
            <a:endParaRPr lang="en-GB"/>
          </a:p>
        </p:txBody>
      </p:sp>
      <p:sp>
        <p:nvSpPr>
          <p:cNvPr id="20" name="Text 18"/>
          <p:cNvSpPr/>
          <p:nvPr/>
        </p:nvSpPr>
        <p:spPr>
          <a:xfrm>
            <a:off x="1463040" y="4160520"/>
            <a:ext cx="2743200" cy="228600"/>
          </a:xfrm>
          <a:prstGeom prst="rect">
            <a:avLst/>
          </a:prstGeom>
          <a:noFill/>
          <a:ln/>
        </p:spPr>
        <p:txBody>
          <a:bodyPr wrap="square" lIns="0" tIns="0" rIns="0" bIns="0" rtlCol="0" anchor="ctr"/>
          <a:lstStyle/>
          <a:p>
            <a:pPr marL="0" indent="0">
              <a:buNone/>
            </a:pPr>
            <a:r>
              <a:rPr lang="en-US" sz="1200" b="1" dirty="0">
                <a:solidFill>
                  <a:srgbClr val="A8E6F1"/>
                </a:solidFill>
                <a:latin typeface="Aptos" pitchFamily="34" charset="0"/>
                <a:ea typeface="Aptos" pitchFamily="34" charset="-122"/>
                <a:cs typeface="Aptos" pitchFamily="34" charset="-120"/>
              </a:rPr>
              <a:t>YOUR FULL PARTNER CODE</a:t>
            </a:r>
            <a:endParaRPr lang="en-US" sz="1200" dirty="0"/>
          </a:p>
        </p:txBody>
      </p:sp>
      <p:sp>
        <p:nvSpPr>
          <p:cNvPr id="21" name="Text 19"/>
          <p:cNvSpPr/>
          <p:nvPr/>
        </p:nvSpPr>
        <p:spPr>
          <a:xfrm>
            <a:off x="1463040" y="4480560"/>
            <a:ext cx="4206240" cy="347472"/>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[AFFILIATE-CODE]</a:t>
            </a:r>
            <a:endParaRPr lang="en-US" sz="2600" dirty="0"/>
          </a:p>
        </p:txBody>
      </p:sp>
      <p:sp>
        <p:nvSpPr>
          <p:cNvPr id="22" name="Text 20"/>
          <p:cNvSpPr/>
          <p:nvPr/>
        </p:nvSpPr>
        <p:spPr>
          <a:xfrm>
            <a:off x="5989320" y="4526280"/>
            <a:ext cx="4434840" cy="256032"/>
          </a:xfrm>
          <a:prstGeom prst="rect">
            <a:avLst/>
          </a:prstGeom>
          <a:noFill/>
          <a:ln/>
        </p:spPr>
        <p:txBody>
          <a:bodyPr wrap="square" lIns="0" tIns="0" rIns="0" bIns="0" rtlCol="0" anchor="ctr"/>
          <a:lstStyle/>
          <a:p>
            <a:pPr marL="0" indent="0" algn="r">
              <a:buNone/>
            </a:pPr>
            <a:r>
              <a:rPr lang="en-US" sz="1800" b="1" dirty="0">
                <a:solidFill>
                  <a:srgbClr val="00A99D"/>
                </a:solidFill>
                <a:latin typeface="Aptos Display" pitchFamily="34" charset="0"/>
                <a:ea typeface="Aptos Display" pitchFamily="34" charset="-122"/>
                <a:cs typeface="Aptos Display" pitchFamily="34" charset="-120"/>
              </a:rPr>
              <a:t>ADAMftd.com/ref/[affiliate-code]</a:t>
            </a:r>
            <a:endParaRPr lang="en-US" sz="1800" dirty="0"/>
          </a:p>
        </p:txBody>
      </p:sp>
      <p:sp>
        <p:nvSpPr>
          <p:cNvPr id="23" name="Text 21"/>
          <p:cNvSpPr/>
          <p:nvPr/>
        </p:nvSpPr>
        <p:spPr>
          <a:xfrm>
            <a:off x="5989320" y="4983480"/>
            <a:ext cx="4434840" cy="164592"/>
          </a:xfrm>
          <a:prstGeom prst="rect">
            <a:avLst/>
          </a:prstGeom>
          <a:noFill/>
          <a:ln/>
        </p:spPr>
        <p:txBody>
          <a:bodyPr wrap="square" lIns="0" tIns="0" rIns="0" bIns="0" rtlCol="0" anchor="ctr"/>
          <a:lstStyle/>
          <a:p>
            <a:pPr marL="0" indent="0" algn="r">
              <a:buNone/>
            </a:pPr>
            <a:r>
              <a:rPr lang="en-US" sz="1080" dirty="0">
                <a:solidFill>
                  <a:srgbClr val="D9EAF4"/>
                </a:solidFill>
                <a:latin typeface="Aptos" pitchFamily="34" charset="0"/>
                <a:ea typeface="Aptos" pitchFamily="34" charset="-122"/>
                <a:cs typeface="Aptos" pitchFamily="34" charset="-120"/>
              </a:rPr>
              <a:t>Always share the referral link, not only ADAMftd.com.</a:t>
            </a:r>
            <a:endParaRPr lang="en-US" sz="1080" dirty="0"/>
          </a:p>
        </p:txBody>
      </p:sp>
      <p:sp>
        <p:nvSpPr>
          <p:cNvPr id="24" name="Text 22"/>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ADAMftd Affiliate Kit · ADAMftd.com</a:t>
            </a:r>
            <a:endParaRPr lang="en-US" sz="850" dirty="0"/>
          </a:p>
        </p:txBody>
      </p:sp>
      <p:sp>
        <p:nvSpPr>
          <p:cNvPr id="25" name="Text 23"/>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B34"/>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Safe language for affiliates</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BBD4E6"/>
                </a:solidFill>
                <a:latin typeface="Aptos" pitchFamily="34" charset="0"/>
                <a:ea typeface="Aptos" pitchFamily="34" charset="-122"/>
                <a:cs typeface="Aptos" pitchFamily="34" charset="-120"/>
              </a:rPr>
              <a:t>Protect credibility: be specific, not exaggerated.</a:t>
            </a:r>
            <a:endParaRPr lang="en-US" sz="1180" dirty="0"/>
          </a:p>
        </p:txBody>
      </p:sp>
      <p:sp>
        <p:nvSpPr>
          <p:cNvPr id="4" name="Shape 2"/>
          <p:cNvSpPr/>
          <p:nvPr/>
        </p:nvSpPr>
        <p:spPr>
          <a:xfrm>
            <a:off x="777240" y="1307592"/>
            <a:ext cx="5074920" cy="4160520"/>
          </a:xfrm>
          <a:prstGeom prst="roundRect">
            <a:avLst>
              <a:gd name="adj" fmla="val 3516"/>
            </a:avLst>
          </a:prstGeom>
          <a:solidFill>
            <a:srgbClr val="082B52"/>
          </a:solidFill>
          <a:ln w="12700">
            <a:solidFill>
              <a:srgbClr val="27516E"/>
            </a:solidFill>
            <a:prstDash val="solid"/>
          </a:ln>
        </p:spPr>
        <p:txBody>
          <a:bodyPr/>
          <a:lstStyle/>
          <a:p>
            <a:endParaRPr lang="en-GB"/>
          </a:p>
        </p:txBody>
      </p:sp>
      <p:sp>
        <p:nvSpPr>
          <p:cNvPr id="5" name="Text 3"/>
          <p:cNvSpPr/>
          <p:nvPr/>
        </p:nvSpPr>
        <p:spPr>
          <a:xfrm>
            <a:off x="1078992" y="1719072"/>
            <a:ext cx="1828800" cy="310896"/>
          </a:xfrm>
          <a:prstGeom prst="rect">
            <a:avLst/>
          </a:prstGeom>
          <a:noFill/>
          <a:ln/>
        </p:spPr>
        <p:txBody>
          <a:bodyPr wrap="square" lIns="0" tIns="0" rIns="0" bIns="0" rtlCol="0" anchor="ctr"/>
          <a:lstStyle/>
          <a:p>
            <a:pPr marL="0" indent="0">
              <a:buNone/>
            </a:pPr>
            <a:r>
              <a:rPr lang="en-US" sz="2200" b="1" dirty="0">
                <a:solidFill>
                  <a:srgbClr val="00A99D"/>
                </a:solidFill>
                <a:latin typeface="Aptos Display" pitchFamily="34" charset="0"/>
                <a:ea typeface="Aptos Display" pitchFamily="34" charset="-122"/>
                <a:cs typeface="Aptos Display" pitchFamily="34" charset="-120"/>
              </a:rPr>
              <a:t>Say this</a:t>
            </a:r>
            <a:endParaRPr lang="en-US" sz="2200" dirty="0"/>
          </a:p>
        </p:txBody>
      </p:sp>
      <p:sp>
        <p:nvSpPr>
          <p:cNvPr id="6" name="Shape 4"/>
          <p:cNvSpPr/>
          <p:nvPr/>
        </p:nvSpPr>
        <p:spPr>
          <a:xfrm>
            <a:off x="1115568" y="2386584"/>
            <a:ext cx="54864" cy="54864"/>
          </a:xfrm>
          <a:prstGeom prst="ellipse">
            <a:avLst/>
          </a:prstGeom>
          <a:solidFill>
            <a:srgbClr val="00A99D"/>
          </a:solidFill>
          <a:ln w="12700">
            <a:solidFill>
              <a:srgbClr val="00A99D"/>
            </a:solidFill>
            <a:prstDash val="solid"/>
          </a:ln>
        </p:spPr>
        <p:txBody>
          <a:bodyPr/>
          <a:lstStyle/>
          <a:p>
            <a:endParaRPr lang="en-GB"/>
          </a:p>
        </p:txBody>
      </p:sp>
      <p:sp>
        <p:nvSpPr>
          <p:cNvPr id="7" name="Text 5"/>
          <p:cNvSpPr/>
          <p:nvPr/>
        </p:nvSpPr>
        <p:spPr>
          <a:xfrm>
            <a:off x="1261872" y="2267712"/>
            <a:ext cx="4343400" cy="292608"/>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Aptos" pitchFamily="34" charset="0"/>
                <a:ea typeface="Aptos" pitchFamily="34" charset="-122"/>
                <a:cs typeface="Aptos" pitchFamily="34" charset="-120"/>
              </a:rPr>
              <a:t>AI-native trade intelligence grounded in source data</a:t>
            </a:r>
            <a:endParaRPr lang="en-US" sz="1320" dirty="0"/>
          </a:p>
        </p:txBody>
      </p:sp>
      <p:sp>
        <p:nvSpPr>
          <p:cNvPr id="8" name="Shape 6"/>
          <p:cNvSpPr/>
          <p:nvPr/>
        </p:nvSpPr>
        <p:spPr>
          <a:xfrm>
            <a:off x="1115568" y="2999232"/>
            <a:ext cx="54864" cy="54864"/>
          </a:xfrm>
          <a:prstGeom prst="ellipse">
            <a:avLst/>
          </a:prstGeom>
          <a:solidFill>
            <a:srgbClr val="00A99D"/>
          </a:solidFill>
          <a:ln w="12700">
            <a:solidFill>
              <a:srgbClr val="00A99D"/>
            </a:solidFill>
            <a:prstDash val="solid"/>
          </a:ln>
        </p:spPr>
        <p:txBody>
          <a:bodyPr/>
          <a:lstStyle/>
          <a:p>
            <a:endParaRPr lang="en-GB"/>
          </a:p>
        </p:txBody>
      </p:sp>
      <p:sp>
        <p:nvSpPr>
          <p:cNvPr id="9" name="Text 7"/>
          <p:cNvSpPr/>
          <p:nvPr/>
        </p:nvSpPr>
        <p:spPr>
          <a:xfrm>
            <a:off x="1261872" y="2880360"/>
            <a:ext cx="4343400" cy="292608"/>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Aptos" pitchFamily="34" charset="0"/>
                <a:ea typeface="Aptos" pitchFamily="34" charset="-122"/>
                <a:cs typeface="Aptos" pitchFamily="34" charset="-120"/>
              </a:rPr>
              <a:t>Historical trade and shipment data with reporting delays</a:t>
            </a:r>
            <a:endParaRPr lang="en-US" sz="1320" dirty="0"/>
          </a:p>
        </p:txBody>
      </p:sp>
      <p:sp>
        <p:nvSpPr>
          <p:cNvPr id="10" name="Shape 8"/>
          <p:cNvSpPr/>
          <p:nvPr/>
        </p:nvSpPr>
        <p:spPr>
          <a:xfrm>
            <a:off x="1115568" y="3611880"/>
            <a:ext cx="54864" cy="54864"/>
          </a:xfrm>
          <a:prstGeom prst="ellipse">
            <a:avLst/>
          </a:prstGeom>
          <a:solidFill>
            <a:srgbClr val="00A99D"/>
          </a:solidFill>
          <a:ln w="12700">
            <a:solidFill>
              <a:srgbClr val="00A99D"/>
            </a:solidFill>
            <a:prstDash val="solid"/>
          </a:ln>
        </p:spPr>
        <p:txBody>
          <a:bodyPr/>
          <a:lstStyle/>
          <a:p>
            <a:endParaRPr lang="en-GB"/>
          </a:p>
        </p:txBody>
      </p:sp>
      <p:sp>
        <p:nvSpPr>
          <p:cNvPr id="11" name="Text 9"/>
          <p:cNvSpPr/>
          <p:nvPr/>
        </p:nvSpPr>
        <p:spPr>
          <a:xfrm>
            <a:off x="1261872" y="3493008"/>
            <a:ext cx="4343400" cy="292608"/>
          </a:xfrm>
          <a:prstGeom prst="rect">
            <a:avLst/>
          </a:prstGeom>
          <a:noFill/>
          <a:ln/>
        </p:spPr>
        <p:txBody>
          <a:bodyPr wrap="square" lIns="254" tIns="254" rIns="254" bIns="254" rtlCol="0" anchor="ctr">
            <a:normAutofit fontScale="92500"/>
          </a:bodyPr>
          <a:lstStyle/>
          <a:p>
            <a:pPr marL="0" indent="0">
              <a:buNone/>
            </a:pPr>
            <a:r>
              <a:rPr lang="en-US" sz="1320" dirty="0">
                <a:solidFill>
                  <a:srgbClr val="FFFFFF"/>
                </a:solidFill>
                <a:latin typeface="Aptos" pitchFamily="34" charset="0"/>
                <a:ea typeface="Aptos" pitchFamily="34" charset="-122"/>
                <a:cs typeface="Aptos" pitchFamily="34" charset="-120"/>
              </a:rPr>
              <a:t>Coverage varies by country, commodity, source and availability</a:t>
            </a:r>
            <a:endParaRPr lang="en-US" sz="1320" dirty="0"/>
          </a:p>
        </p:txBody>
      </p:sp>
      <p:sp>
        <p:nvSpPr>
          <p:cNvPr id="12" name="Shape 10"/>
          <p:cNvSpPr/>
          <p:nvPr/>
        </p:nvSpPr>
        <p:spPr>
          <a:xfrm>
            <a:off x="1115568" y="4224528"/>
            <a:ext cx="54864" cy="54864"/>
          </a:xfrm>
          <a:prstGeom prst="ellipse">
            <a:avLst/>
          </a:prstGeom>
          <a:solidFill>
            <a:srgbClr val="00A99D"/>
          </a:solidFill>
          <a:ln w="12700">
            <a:solidFill>
              <a:srgbClr val="00A99D"/>
            </a:solidFill>
            <a:prstDash val="solid"/>
          </a:ln>
        </p:spPr>
        <p:txBody>
          <a:bodyPr/>
          <a:lstStyle/>
          <a:p>
            <a:endParaRPr lang="en-GB"/>
          </a:p>
        </p:txBody>
      </p:sp>
      <p:sp>
        <p:nvSpPr>
          <p:cNvPr id="13" name="Text 11"/>
          <p:cNvSpPr/>
          <p:nvPr/>
        </p:nvSpPr>
        <p:spPr>
          <a:xfrm>
            <a:off x="1261872" y="4105656"/>
            <a:ext cx="4343400" cy="292608"/>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Aptos" pitchFamily="34" charset="0"/>
                <a:ea typeface="Aptos" pitchFamily="34" charset="-122"/>
                <a:cs typeface="Aptos" pitchFamily="34" charset="-120"/>
              </a:rPr>
              <a:t>Use ADAMftd to support analysis, verification and discovery</a:t>
            </a:r>
            <a:endParaRPr lang="en-US" sz="1320" dirty="0"/>
          </a:p>
        </p:txBody>
      </p:sp>
      <p:sp>
        <p:nvSpPr>
          <p:cNvPr id="14" name="Shape 12"/>
          <p:cNvSpPr/>
          <p:nvPr/>
        </p:nvSpPr>
        <p:spPr>
          <a:xfrm>
            <a:off x="6355080" y="1348740"/>
            <a:ext cx="5074920" cy="4160520"/>
          </a:xfrm>
          <a:prstGeom prst="roundRect">
            <a:avLst>
              <a:gd name="adj" fmla="val 3516"/>
            </a:avLst>
          </a:prstGeom>
          <a:solidFill>
            <a:srgbClr val="082B52"/>
          </a:solidFill>
          <a:ln w="12700">
            <a:solidFill>
              <a:srgbClr val="27516E"/>
            </a:solidFill>
            <a:prstDash val="solid"/>
          </a:ln>
        </p:spPr>
        <p:txBody>
          <a:bodyPr/>
          <a:lstStyle/>
          <a:p>
            <a:endParaRPr lang="en-GB"/>
          </a:p>
        </p:txBody>
      </p:sp>
      <p:sp>
        <p:nvSpPr>
          <p:cNvPr id="15" name="Text 13"/>
          <p:cNvSpPr/>
          <p:nvPr/>
        </p:nvSpPr>
        <p:spPr>
          <a:xfrm>
            <a:off x="6656832" y="1719072"/>
            <a:ext cx="1828800" cy="310896"/>
          </a:xfrm>
          <a:prstGeom prst="rect">
            <a:avLst/>
          </a:prstGeom>
          <a:noFill/>
          <a:ln/>
        </p:spPr>
        <p:txBody>
          <a:bodyPr wrap="square" lIns="0" tIns="0" rIns="0" bIns="0" rtlCol="0" anchor="ctr"/>
          <a:lstStyle/>
          <a:p>
            <a:pPr marL="0" indent="0">
              <a:buNone/>
            </a:pPr>
            <a:r>
              <a:rPr lang="en-US" sz="2200" b="1" dirty="0">
                <a:solidFill>
                  <a:srgbClr val="F59E0B"/>
                </a:solidFill>
                <a:latin typeface="Aptos Display" pitchFamily="34" charset="0"/>
                <a:ea typeface="Aptos Display" pitchFamily="34" charset="-122"/>
                <a:cs typeface="Aptos Display" pitchFamily="34" charset="-120"/>
              </a:rPr>
              <a:t>Avoid this</a:t>
            </a:r>
            <a:endParaRPr lang="en-US" sz="2200" dirty="0"/>
          </a:p>
        </p:txBody>
      </p:sp>
      <p:sp>
        <p:nvSpPr>
          <p:cNvPr id="16" name="Shape 14"/>
          <p:cNvSpPr/>
          <p:nvPr/>
        </p:nvSpPr>
        <p:spPr>
          <a:xfrm>
            <a:off x="6693408" y="2441448"/>
            <a:ext cx="54864" cy="54864"/>
          </a:xfrm>
          <a:prstGeom prst="ellipse">
            <a:avLst/>
          </a:prstGeom>
          <a:solidFill>
            <a:srgbClr val="F59E0B"/>
          </a:solidFill>
          <a:ln w="12700">
            <a:solidFill>
              <a:srgbClr val="F59E0B"/>
            </a:solidFill>
            <a:prstDash val="solid"/>
          </a:ln>
        </p:spPr>
        <p:txBody>
          <a:bodyPr/>
          <a:lstStyle/>
          <a:p>
            <a:endParaRPr lang="en-GB"/>
          </a:p>
        </p:txBody>
      </p:sp>
      <p:sp>
        <p:nvSpPr>
          <p:cNvPr id="17" name="Text 15"/>
          <p:cNvSpPr/>
          <p:nvPr/>
        </p:nvSpPr>
        <p:spPr>
          <a:xfrm>
            <a:off x="6839712" y="2331720"/>
            <a:ext cx="4251960" cy="292608"/>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Aptos" pitchFamily="34" charset="0"/>
                <a:ea typeface="Aptos" pitchFamily="34" charset="-122"/>
                <a:cs typeface="Aptos" pitchFamily="34" charset="-120"/>
              </a:rPr>
              <a:t>Do not imply real-time shipment tracking</a:t>
            </a:r>
            <a:endParaRPr lang="en-US" sz="1320" dirty="0"/>
          </a:p>
        </p:txBody>
      </p:sp>
      <p:sp>
        <p:nvSpPr>
          <p:cNvPr id="18" name="Shape 16"/>
          <p:cNvSpPr/>
          <p:nvPr/>
        </p:nvSpPr>
        <p:spPr>
          <a:xfrm>
            <a:off x="6693408" y="3063240"/>
            <a:ext cx="54864" cy="54864"/>
          </a:xfrm>
          <a:prstGeom prst="ellipse">
            <a:avLst/>
          </a:prstGeom>
          <a:solidFill>
            <a:srgbClr val="F59E0B"/>
          </a:solidFill>
          <a:ln w="12700">
            <a:solidFill>
              <a:srgbClr val="F59E0B"/>
            </a:solidFill>
            <a:prstDash val="solid"/>
          </a:ln>
        </p:spPr>
        <p:txBody>
          <a:bodyPr/>
          <a:lstStyle/>
          <a:p>
            <a:endParaRPr lang="en-GB"/>
          </a:p>
        </p:txBody>
      </p:sp>
      <p:sp>
        <p:nvSpPr>
          <p:cNvPr id="19" name="Text 17"/>
          <p:cNvSpPr/>
          <p:nvPr/>
        </p:nvSpPr>
        <p:spPr>
          <a:xfrm>
            <a:off x="6839712" y="2944368"/>
            <a:ext cx="4251960" cy="292608"/>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Aptos" pitchFamily="34" charset="0"/>
                <a:ea typeface="Aptos" pitchFamily="34" charset="-122"/>
                <a:cs typeface="Aptos" pitchFamily="34" charset="-120"/>
              </a:rPr>
              <a:t>Do not promise guaranteed buyers or sales outcomes</a:t>
            </a:r>
            <a:endParaRPr lang="en-US" sz="1320" dirty="0"/>
          </a:p>
        </p:txBody>
      </p:sp>
      <p:sp>
        <p:nvSpPr>
          <p:cNvPr id="20" name="Shape 18"/>
          <p:cNvSpPr/>
          <p:nvPr/>
        </p:nvSpPr>
        <p:spPr>
          <a:xfrm>
            <a:off x="6693408" y="3648456"/>
            <a:ext cx="54864" cy="54864"/>
          </a:xfrm>
          <a:prstGeom prst="ellipse">
            <a:avLst/>
          </a:prstGeom>
          <a:solidFill>
            <a:srgbClr val="F59E0B"/>
          </a:solidFill>
          <a:ln w="12700">
            <a:solidFill>
              <a:srgbClr val="F59E0B"/>
            </a:solidFill>
            <a:prstDash val="solid"/>
          </a:ln>
        </p:spPr>
        <p:txBody>
          <a:bodyPr/>
          <a:lstStyle/>
          <a:p>
            <a:endParaRPr lang="en-GB"/>
          </a:p>
        </p:txBody>
      </p:sp>
      <p:sp>
        <p:nvSpPr>
          <p:cNvPr id="21" name="Text 19"/>
          <p:cNvSpPr/>
          <p:nvPr/>
        </p:nvSpPr>
        <p:spPr>
          <a:xfrm>
            <a:off x="6839712" y="3557016"/>
            <a:ext cx="4251960" cy="292608"/>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Aptos" pitchFamily="34" charset="0"/>
                <a:ea typeface="Aptos" pitchFamily="34" charset="-122"/>
                <a:cs typeface="Aptos" pitchFamily="34" charset="-120"/>
              </a:rPr>
              <a:t>Do not use UN/WTO/International Trade Centre logos or language</a:t>
            </a:r>
            <a:endParaRPr lang="en-US" sz="1320" dirty="0"/>
          </a:p>
        </p:txBody>
      </p:sp>
      <p:sp>
        <p:nvSpPr>
          <p:cNvPr id="22" name="Shape 20"/>
          <p:cNvSpPr/>
          <p:nvPr/>
        </p:nvSpPr>
        <p:spPr>
          <a:xfrm>
            <a:off x="6693408" y="4224528"/>
            <a:ext cx="54864" cy="54864"/>
          </a:xfrm>
          <a:prstGeom prst="ellipse">
            <a:avLst/>
          </a:prstGeom>
          <a:solidFill>
            <a:srgbClr val="F59E0B"/>
          </a:solidFill>
          <a:ln w="12700">
            <a:solidFill>
              <a:srgbClr val="F59E0B"/>
            </a:solidFill>
            <a:prstDash val="solid"/>
          </a:ln>
        </p:spPr>
        <p:txBody>
          <a:bodyPr/>
          <a:lstStyle/>
          <a:p>
            <a:endParaRPr lang="en-GB"/>
          </a:p>
        </p:txBody>
      </p:sp>
      <p:sp>
        <p:nvSpPr>
          <p:cNvPr id="23" name="Text 21"/>
          <p:cNvSpPr/>
          <p:nvPr/>
        </p:nvSpPr>
        <p:spPr>
          <a:xfrm>
            <a:off x="6839712" y="4169664"/>
            <a:ext cx="4251960" cy="292608"/>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Aptos" pitchFamily="34" charset="0"/>
                <a:ea typeface="Aptos" pitchFamily="34" charset="-122"/>
                <a:cs typeface="Aptos" pitchFamily="34" charset="-120"/>
              </a:rPr>
              <a:t>Do not quote unsupported savings or “value created” figures</a:t>
            </a:r>
            <a:endParaRPr lang="en-US" sz="1320" dirty="0"/>
          </a:p>
        </p:txBody>
      </p:sp>
      <p:sp>
        <p:nvSpPr>
          <p:cNvPr id="24" name="Text 22"/>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D9EAF4"/>
                </a:solidFill>
                <a:latin typeface="Aptos" pitchFamily="34" charset="0"/>
                <a:ea typeface="Aptos" pitchFamily="34" charset="-122"/>
                <a:cs typeface="Aptos" pitchFamily="34" charset="-120"/>
              </a:rPr>
              <a:t>ADAMftd Affiliate Kit · ADAMftd.com</a:t>
            </a:r>
            <a:endParaRPr lang="en-US" sz="850" dirty="0"/>
          </a:p>
        </p:txBody>
      </p:sp>
      <p:sp>
        <p:nvSpPr>
          <p:cNvPr id="25" name="Text 23"/>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D9EAF4"/>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94360" y="384048"/>
            <a:ext cx="7680960" cy="411480"/>
          </a:xfrm>
          <a:prstGeom prst="rect">
            <a:avLst/>
          </a:prstGeom>
          <a:noFill/>
          <a:ln/>
        </p:spPr>
        <p:txBody>
          <a:bodyPr wrap="square" lIns="0" tIns="0" rIns="0" bIns="0" rtlCol="0" anchor="ct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Who to approach and how to close</a:t>
            </a:r>
            <a:endParaRPr lang="en-US" sz="2700" dirty="0"/>
          </a:p>
        </p:txBody>
      </p:sp>
      <p:sp>
        <p:nvSpPr>
          <p:cNvPr id="3" name="Text 1"/>
          <p:cNvSpPr/>
          <p:nvPr/>
        </p:nvSpPr>
        <p:spPr>
          <a:xfrm>
            <a:off x="612648" y="850392"/>
            <a:ext cx="7863840" cy="237744"/>
          </a:xfrm>
          <a:prstGeom prst="rect">
            <a:avLst/>
          </a:prstGeom>
          <a:noFill/>
          <a:ln/>
        </p:spPr>
        <p:txBody>
          <a:bodyPr wrap="square" lIns="0" tIns="0" rIns="0" bIns="0" rtlCol="0" anchor="ctr"/>
          <a:lstStyle/>
          <a:p>
            <a:pPr marL="0" indent="0">
              <a:buNone/>
            </a:pPr>
            <a:r>
              <a:rPr lang="en-US" sz="1180" dirty="0">
                <a:solidFill>
                  <a:srgbClr val="64748B"/>
                </a:solidFill>
                <a:latin typeface="Aptos" pitchFamily="34" charset="0"/>
                <a:ea typeface="Aptos" pitchFamily="34" charset="-122"/>
                <a:cs typeface="Aptos" pitchFamily="34" charset="-120"/>
              </a:rPr>
              <a:t>Use the same leaflet for end users first; sub-affiliates second.</a:t>
            </a:r>
            <a:endParaRPr lang="en-US" sz="1180" dirty="0"/>
          </a:p>
        </p:txBody>
      </p:sp>
      <p:sp>
        <p:nvSpPr>
          <p:cNvPr id="4" name="Shape 2"/>
          <p:cNvSpPr/>
          <p:nvPr/>
        </p:nvSpPr>
        <p:spPr>
          <a:xfrm>
            <a:off x="685800" y="1417320"/>
            <a:ext cx="4983480" cy="4297680"/>
          </a:xfrm>
          <a:prstGeom prst="roundRect">
            <a:avLst>
              <a:gd name="adj" fmla="val 3404"/>
            </a:avLst>
          </a:prstGeom>
          <a:solidFill>
            <a:srgbClr val="FFFFFF"/>
          </a:solidFill>
          <a:ln w="12700">
            <a:solidFill>
              <a:srgbClr val="D8E4EE"/>
            </a:solidFill>
            <a:prstDash val="solid"/>
          </a:ln>
        </p:spPr>
        <p:txBody>
          <a:bodyPr/>
          <a:lstStyle/>
          <a:p>
            <a:endParaRPr lang="en-GB"/>
          </a:p>
        </p:txBody>
      </p:sp>
      <p:sp>
        <p:nvSpPr>
          <p:cNvPr id="5" name="Text 3"/>
          <p:cNvSpPr/>
          <p:nvPr/>
        </p:nvSpPr>
        <p:spPr>
          <a:xfrm>
            <a:off x="960120" y="1700784"/>
            <a:ext cx="3474720" cy="274320"/>
          </a:xfrm>
          <a:prstGeom prst="rect">
            <a:avLst/>
          </a:prstGeom>
          <a:noFill/>
          <a:ln/>
        </p:spPr>
        <p:txBody>
          <a:bodyPr wrap="square" lIns="0" tIns="0" rIns="0" bIns="0" rtlCol="0" anchor="ctr"/>
          <a:lstStyle/>
          <a:p>
            <a:pPr marL="0" indent="0">
              <a:buNone/>
            </a:pPr>
            <a:r>
              <a:rPr lang="en-US" sz="2200" b="1" dirty="0">
                <a:solidFill>
                  <a:srgbClr val="0B1F33"/>
                </a:solidFill>
                <a:latin typeface="Aptos Display" pitchFamily="34" charset="0"/>
                <a:ea typeface="Aptos Display" pitchFamily="34" charset="-122"/>
                <a:cs typeface="Aptos Display" pitchFamily="34" charset="-120"/>
              </a:rPr>
              <a:t>Best-fit prospects</a:t>
            </a:r>
            <a:endParaRPr lang="en-US" sz="2200" dirty="0"/>
          </a:p>
        </p:txBody>
      </p:sp>
      <p:sp>
        <p:nvSpPr>
          <p:cNvPr id="6" name="Shape 4"/>
          <p:cNvSpPr/>
          <p:nvPr/>
        </p:nvSpPr>
        <p:spPr>
          <a:xfrm>
            <a:off x="987552" y="2295144"/>
            <a:ext cx="54864" cy="54864"/>
          </a:xfrm>
          <a:prstGeom prst="ellipse">
            <a:avLst/>
          </a:prstGeom>
          <a:solidFill>
            <a:srgbClr val="00A99D"/>
          </a:solidFill>
          <a:ln w="12700">
            <a:solidFill>
              <a:srgbClr val="00A99D"/>
            </a:solidFill>
            <a:prstDash val="solid"/>
          </a:ln>
        </p:spPr>
        <p:txBody>
          <a:bodyPr/>
          <a:lstStyle/>
          <a:p>
            <a:endParaRPr lang="en-GB"/>
          </a:p>
        </p:txBody>
      </p:sp>
      <p:sp>
        <p:nvSpPr>
          <p:cNvPr id="7" name="Text 5"/>
          <p:cNvSpPr/>
          <p:nvPr/>
        </p:nvSpPr>
        <p:spPr>
          <a:xfrm>
            <a:off x="1133856" y="2176272"/>
            <a:ext cx="3931920" cy="292608"/>
          </a:xfrm>
          <a:prstGeom prst="rect">
            <a:avLst/>
          </a:prstGeom>
          <a:noFill/>
          <a:ln/>
        </p:spPr>
        <p:txBody>
          <a:bodyPr wrap="square" lIns="254" tIns="254" rIns="254" bIns="254" rtlCol="0" anchor="ctr">
            <a:normAutofit/>
          </a:bodyPr>
          <a:lstStyle/>
          <a:p>
            <a:pPr marL="0" indent="0">
              <a:buNone/>
            </a:pPr>
            <a:r>
              <a:rPr lang="en-US" sz="1360" dirty="0">
                <a:solidFill>
                  <a:srgbClr val="0B1F33"/>
                </a:solidFill>
                <a:latin typeface="Aptos" pitchFamily="34" charset="0"/>
                <a:ea typeface="Aptos" pitchFamily="34" charset="-122"/>
                <a:cs typeface="Aptos" pitchFamily="34" charset="-120"/>
              </a:rPr>
              <a:t>Exporters &amp; importers</a:t>
            </a:r>
            <a:endParaRPr lang="en-US" sz="1360" dirty="0"/>
          </a:p>
        </p:txBody>
      </p:sp>
      <p:sp>
        <p:nvSpPr>
          <p:cNvPr id="8" name="Shape 6"/>
          <p:cNvSpPr/>
          <p:nvPr/>
        </p:nvSpPr>
        <p:spPr>
          <a:xfrm>
            <a:off x="987552" y="2734056"/>
            <a:ext cx="54864" cy="54864"/>
          </a:xfrm>
          <a:prstGeom prst="ellipse">
            <a:avLst/>
          </a:prstGeom>
          <a:solidFill>
            <a:srgbClr val="00A99D"/>
          </a:solidFill>
          <a:ln w="12700">
            <a:solidFill>
              <a:srgbClr val="00A99D"/>
            </a:solidFill>
            <a:prstDash val="solid"/>
          </a:ln>
        </p:spPr>
        <p:txBody>
          <a:bodyPr/>
          <a:lstStyle/>
          <a:p>
            <a:endParaRPr lang="en-GB"/>
          </a:p>
        </p:txBody>
      </p:sp>
      <p:sp>
        <p:nvSpPr>
          <p:cNvPr id="9" name="Text 7"/>
          <p:cNvSpPr/>
          <p:nvPr/>
        </p:nvSpPr>
        <p:spPr>
          <a:xfrm>
            <a:off x="1133856" y="2615184"/>
            <a:ext cx="3931920" cy="292608"/>
          </a:xfrm>
          <a:prstGeom prst="rect">
            <a:avLst/>
          </a:prstGeom>
          <a:noFill/>
          <a:ln/>
        </p:spPr>
        <p:txBody>
          <a:bodyPr wrap="square" lIns="254" tIns="254" rIns="254" bIns="254" rtlCol="0" anchor="ctr">
            <a:normAutofit/>
          </a:bodyPr>
          <a:lstStyle/>
          <a:p>
            <a:pPr marL="0" indent="0">
              <a:buNone/>
            </a:pPr>
            <a:r>
              <a:rPr lang="en-US" sz="1360" dirty="0">
                <a:solidFill>
                  <a:srgbClr val="0B1F33"/>
                </a:solidFill>
                <a:latin typeface="Aptos" pitchFamily="34" charset="0"/>
                <a:ea typeface="Aptos" pitchFamily="34" charset="-122"/>
                <a:cs typeface="Aptos" pitchFamily="34" charset="-120"/>
              </a:rPr>
              <a:t>Trade consultants</a:t>
            </a:r>
            <a:endParaRPr lang="en-US" sz="1360" dirty="0"/>
          </a:p>
        </p:txBody>
      </p:sp>
      <p:sp>
        <p:nvSpPr>
          <p:cNvPr id="10" name="Shape 8"/>
          <p:cNvSpPr/>
          <p:nvPr/>
        </p:nvSpPr>
        <p:spPr>
          <a:xfrm>
            <a:off x="987552" y="3172968"/>
            <a:ext cx="54864" cy="54864"/>
          </a:xfrm>
          <a:prstGeom prst="ellipse">
            <a:avLst/>
          </a:prstGeom>
          <a:solidFill>
            <a:srgbClr val="00A99D"/>
          </a:solidFill>
          <a:ln w="12700">
            <a:solidFill>
              <a:srgbClr val="00A99D"/>
            </a:solidFill>
            <a:prstDash val="solid"/>
          </a:ln>
        </p:spPr>
        <p:txBody>
          <a:bodyPr/>
          <a:lstStyle/>
          <a:p>
            <a:endParaRPr lang="en-GB"/>
          </a:p>
        </p:txBody>
      </p:sp>
      <p:sp>
        <p:nvSpPr>
          <p:cNvPr id="11" name="Text 9"/>
          <p:cNvSpPr/>
          <p:nvPr/>
        </p:nvSpPr>
        <p:spPr>
          <a:xfrm>
            <a:off x="1133856" y="3054096"/>
            <a:ext cx="3931920" cy="292608"/>
          </a:xfrm>
          <a:prstGeom prst="rect">
            <a:avLst/>
          </a:prstGeom>
          <a:noFill/>
          <a:ln/>
        </p:spPr>
        <p:txBody>
          <a:bodyPr wrap="square" lIns="254" tIns="254" rIns="254" bIns="254" rtlCol="0" anchor="ctr">
            <a:normAutofit/>
          </a:bodyPr>
          <a:lstStyle/>
          <a:p>
            <a:pPr marL="0" indent="0">
              <a:buNone/>
            </a:pPr>
            <a:r>
              <a:rPr lang="en-US" sz="1360" dirty="0">
                <a:solidFill>
                  <a:srgbClr val="0B1F33"/>
                </a:solidFill>
                <a:latin typeface="Aptos" pitchFamily="34" charset="0"/>
                <a:ea typeface="Aptos" pitchFamily="34" charset="-122"/>
                <a:cs typeface="Aptos" pitchFamily="34" charset="-120"/>
              </a:rPr>
              <a:t>Freight forwarders</a:t>
            </a:r>
            <a:endParaRPr lang="en-US" sz="1360" dirty="0"/>
          </a:p>
        </p:txBody>
      </p:sp>
      <p:sp>
        <p:nvSpPr>
          <p:cNvPr id="12" name="Shape 10"/>
          <p:cNvSpPr/>
          <p:nvPr/>
        </p:nvSpPr>
        <p:spPr>
          <a:xfrm>
            <a:off x="987552" y="3611880"/>
            <a:ext cx="54864" cy="54864"/>
          </a:xfrm>
          <a:prstGeom prst="ellipse">
            <a:avLst/>
          </a:prstGeom>
          <a:solidFill>
            <a:srgbClr val="00A99D"/>
          </a:solidFill>
          <a:ln w="12700">
            <a:solidFill>
              <a:srgbClr val="00A99D"/>
            </a:solidFill>
            <a:prstDash val="solid"/>
          </a:ln>
        </p:spPr>
        <p:txBody>
          <a:bodyPr/>
          <a:lstStyle/>
          <a:p>
            <a:endParaRPr lang="en-GB"/>
          </a:p>
        </p:txBody>
      </p:sp>
      <p:sp>
        <p:nvSpPr>
          <p:cNvPr id="13" name="Text 11"/>
          <p:cNvSpPr/>
          <p:nvPr/>
        </p:nvSpPr>
        <p:spPr>
          <a:xfrm>
            <a:off x="1133856" y="3493008"/>
            <a:ext cx="3931920" cy="292608"/>
          </a:xfrm>
          <a:prstGeom prst="rect">
            <a:avLst/>
          </a:prstGeom>
          <a:noFill/>
          <a:ln/>
        </p:spPr>
        <p:txBody>
          <a:bodyPr wrap="square" lIns="254" tIns="254" rIns="254" bIns="254" rtlCol="0" anchor="ctr">
            <a:normAutofit/>
          </a:bodyPr>
          <a:lstStyle/>
          <a:p>
            <a:pPr marL="0" indent="0">
              <a:buNone/>
            </a:pPr>
            <a:r>
              <a:rPr lang="en-US" sz="1360" dirty="0">
                <a:solidFill>
                  <a:srgbClr val="0B1F33"/>
                </a:solidFill>
                <a:latin typeface="Aptos" pitchFamily="34" charset="0"/>
                <a:ea typeface="Aptos" pitchFamily="34" charset="-122"/>
                <a:cs typeface="Aptos" pitchFamily="34" charset="-120"/>
              </a:rPr>
              <a:t>Chambers &amp; associations</a:t>
            </a:r>
            <a:endParaRPr lang="en-US" sz="1360" dirty="0"/>
          </a:p>
        </p:txBody>
      </p:sp>
      <p:sp>
        <p:nvSpPr>
          <p:cNvPr id="14" name="Shape 12"/>
          <p:cNvSpPr/>
          <p:nvPr/>
        </p:nvSpPr>
        <p:spPr>
          <a:xfrm>
            <a:off x="987552" y="4050792"/>
            <a:ext cx="54864" cy="54864"/>
          </a:xfrm>
          <a:prstGeom prst="ellipse">
            <a:avLst/>
          </a:prstGeom>
          <a:solidFill>
            <a:srgbClr val="00A99D"/>
          </a:solidFill>
          <a:ln w="12700">
            <a:solidFill>
              <a:srgbClr val="00A99D"/>
            </a:solidFill>
            <a:prstDash val="solid"/>
          </a:ln>
        </p:spPr>
        <p:txBody>
          <a:bodyPr/>
          <a:lstStyle/>
          <a:p>
            <a:endParaRPr lang="en-GB"/>
          </a:p>
        </p:txBody>
      </p:sp>
      <p:sp>
        <p:nvSpPr>
          <p:cNvPr id="15" name="Text 13"/>
          <p:cNvSpPr/>
          <p:nvPr/>
        </p:nvSpPr>
        <p:spPr>
          <a:xfrm>
            <a:off x="1133856" y="3931920"/>
            <a:ext cx="3931920" cy="292608"/>
          </a:xfrm>
          <a:prstGeom prst="rect">
            <a:avLst/>
          </a:prstGeom>
          <a:noFill/>
          <a:ln/>
        </p:spPr>
        <p:txBody>
          <a:bodyPr wrap="square" lIns="254" tIns="254" rIns="254" bIns="254" rtlCol="0" anchor="ctr">
            <a:normAutofit/>
          </a:bodyPr>
          <a:lstStyle/>
          <a:p>
            <a:pPr marL="0" indent="0">
              <a:buNone/>
            </a:pPr>
            <a:r>
              <a:rPr lang="en-US" sz="1360" dirty="0">
                <a:solidFill>
                  <a:srgbClr val="0B1F33"/>
                </a:solidFill>
                <a:latin typeface="Aptos" pitchFamily="34" charset="0"/>
                <a:ea typeface="Aptos" pitchFamily="34" charset="-122"/>
                <a:cs typeface="Aptos" pitchFamily="34" charset="-120"/>
              </a:rPr>
              <a:t>EDOs and trade agencies</a:t>
            </a:r>
            <a:endParaRPr lang="en-US" sz="1360" dirty="0"/>
          </a:p>
        </p:txBody>
      </p:sp>
      <p:sp>
        <p:nvSpPr>
          <p:cNvPr id="16" name="Shape 14"/>
          <p:cNvSpPr/>
          <p:nvPr/>
        </p:nvSpPr>
        <p:spPr>
          <a:xfrm>
            <a:off x="987552" y="4489704"/>
            <a:ext cx="54864" cy="54864"/>
          </a:xfrm>
          <a:prstGeom prst="ellipse">
            <a:avLst/>
          </a:prstGeom>
          <a:solidFill>
            <a:srgbClr val="00A99D"/>
          </a:solidFill>
          <a:ln w="12700">
            <a:solidFill>
              <a:srgbClr val="00A99D"/>
            </a:solidFill>
            <a:prstDash val="solid"/>
          </a:ln>
        </p:spPr>
        <p:txBody>
          <a:bodyPr/>
          <a:lstStyle/>
          <a:p>
            <a:endParaRPr lang="en-GB"/>
          </a:p>
        </p:txBody>
      </p:sp>
      <p:sp>
        <p:nvSpPr>
          <p:cNvPr id="17" name="Text 15"/>
          <p:cNvSpPr/>
          <p:nvPr/>
        </p:nvSpPr>
        <p:spPr>
          <a:xfrm>
            <a:off x="1133856" y="4370832"/>
            <a:ext cx="3931920" cy="292608"/>
          </a:xfrm>
          <a:prstGeom prst="rect">
            <a:avLst/>
          </a:prstGeom>
          <a:noFill/>
          <a:ln/>
        </p:spPr>
        <p:txBody>
          <a:bodyPr wrap="square" lIns="254" tIns="254" rIns="254" bIns="254" rtlCol="0" anchor="ctr">
            <a:normAutofit/>
          </a:bodyPr>
          <a:lstStyle/>
          <a:p>
            <a:pPr marL="0" indent="0">
              <a:buNone/>
            </a:pPr>
            <a:r>
              <a:rPr lang="en-US" sz="1360" dirty="0">
                <a:solidFill>
                  <a:srgbClr val="0B1F33"/>
                </a:solidFill>
                <a:latin typeface="Aptos" pitchFamily="34" charset="0"/>
                <a:ea typeface="Aptos" pitchFamily="34" charset="-122"/>
                <a:cs typeface="Aptos" pitchFamily="34" charset="-120"/>
              </a:rPr>
              <a:t>Commodity and sector networks</a:t>
            </a:r>
            <a:endParaRPr lang="en-US" sz="1360" dirty="0"/>
          </a:p>
        </p:txBody>
      </p:sp>
      <p:sp>
        <p:nvSpPr>
          <p:cNvPr id="18" name="Shape 16"/>
          <p:cNvSpPr/>
          <p:nvPr/>
        </p:nvSpPr>
        <p:spPr>
          <a:xfrm>
            <a:off x="6217920" y="1417320"/>
            <a:ext cx="5257800" cy="4297680"/>
          </a:xfrm>
          <a:prstGeom prst="roundRect">
            <a:avLst>
              <a:gd name="adj" fmla="val 3404"/>
            </a:avLst>
          </a:prstGeom>
          <a:solidFill>
            <a:srgbClr val="E9FBF8"/>
          </a:solidFill>
          <a:ln w="12700">
            <a:solidFill>
              <a:srgbClr val="B8E8E0"/>
            </a:solidFill>
            <a:prstDash val="solid"/>
          </a:ln>
        </p:spPr>
        <p:txBody>
          <a:bodyPr/>
          <a:lstStyle/>
          <a:p>
            <a:endParaRPr lang="en-GB"/>
          </a:p>
        </p:txBody>
      </p:sp>
      <p:sp>
        <p:nvSpPr>
          <p:cNvPr id="19" name="Text 17"/>
          <p:cNvSpPr/>
          <p:nvPr/>
        </p:nvSpPr>
        <p:spPr>
          <a:xfrm>
            <a:off x="6537960" y="1700784"/>
            <a:ext cx="4297680" cy="274320"/>
          </a:xfrm>
          <a:prstGeom prst="rect">
            <a:avLst/>
          </a:prstGeom>
          <a:noFill/>
          <a:ln/>
        </p:spPr>
        <p:txBody>
          <a:bodyPr wrap="square" lIns="0" tIns="0" rIns="0" bIns="0" rtlCol="0" anchor="ctr"/>
          <a:lstStyle/>
          <a:p>
            <a:pPr marL="0" indent="0">
              <a:buNone/>
            </a:pPr>
            <a:r>
              <a:rPr lang="en-US" sz="2200" b="1" dirty="0">
                <a:solidFill>
                  <a:srgbClr val="0B1F33"/>
                </a:solidFill>
                <a:latin typeface="Aptos Display" pitchFamily="34" charset="0"/>
                <a:ea typeface="Aptos Display" pitchFamily="34" charset="-122"/>
                <a:cs typeface="Aptos Display" pitchFamily="34" charset="-120"/>
              </a:rPr>
              <a:t>Closing language</a:t>
            </a:r>
            <a:endParaRPr lang="en-US" sz="2200" dirty="0"/>
          </a:p>
        </p:txBody>
      </p:sp>
      <p:sp>
        <p:nvSpPr>
          <p:cNvPr id="20" name="Text 18"/>
          <p:cNvSpPr/>
          <p:nvPr/>
        </p:nvSpPr>
        <p:spPr>
          <a:xfrm>
            <a:off x="6537960" y="2240280"/>
            <a:ext cx="4434840" cy="960120"/>
          </a:xfrm>
          <a:prstGeom prst="rect">
            <a:avLst/>
          </a:prstGeom>
          <a:noFill/>
          <a:ln/>
        </p:spPr>
        <p:txBody>
          <a:bodyPr wrap="square" lIns="127" tIns="127" rIns="127" bIns="127" rtlCol="0" anchor="ctr">
            <a:normAutofit/>
          </a:bodyPr>
          <a:lstStyle/>
          <a:p>
            <a:pPr marL="0" indent="0">
              <a:buNone/>
            </a:pPr>
            <a:r>
              <a:rPr lang="en-US" sz="1800" b="1" dirty="0">
                <a:solidFill>
                  <a:srgbClr val="0B1F33"/>
                </a:solidFill>
                <a:latin typeface="Aptos Display" pitchFamily="34" charset="0"/>
                <a:ea typeface="Aptos Display" pitchFamily="34" charset="-122"/>
                <a:cs typeface="Aptos Display" pitchFamily="34" charset="-120"/>
              </a:rPr>
              <a:t>“Start free through my partner link. Use your own product, market or company as the first test. If it helps, we can then look at paid access, annual Pro, or an approved sub-affiliate path for your own network.”</a:t>
            </a:r>
            <a:endParaRPr lang="en-US" sz="1800" dirty="0"/>
          </a:p>
        </p:txBody>
      </p:sp>
      <p:sp>
        <p:nvSpPr>
          <p:cNvPr id="21" name="Shape 19"/>
          <p:cNvSpPr/>
          <p:nvPr/>
        </p:nvSpPr>
        <p:spPr>
          <a:xfrm>
            <a:off x="6537960" y="3657600"/>
            <a:ext cx="4480560" cy="0"/>
          </a:xfrm>
          <a:prstGeom prst="line">
            <a:avLst/>
          </a:prstGeom>
          <a:noFill/>
          <a:ln w="25400">
            <a:solidFill>
              <a:srgbClr val="00A99D"/>
            </a:solidFill>
            <a:prstDash val="solid"/>
          </a:ln>
        </p:spPr>
        <p:txBody>
          <a:bodyPr/>
          <a:lstStyle/>
          <a:p>
            <a:endParaRPr lang="en-GB"/>
          </a:p>
        </p:txBody>
      </p:sp>
      <p:sp>
        <p:nvSpPr>
          <p:cNvPr id="22" name="Text 20"/>
          <p:cNvSpPr/>
          <p:nvPr/>
        </p:nvSpPr>
        <p:spPr>
          <a:xfrm>
            <a:off x="6537960" y="4005072"/>
            <a:ext cx="4480560" cy="292608"/>
          </a:xfrm>
          <a:prstGeom prst="rect">
            <a:avLst/>
          </a:prstGeom>
          <a:noFill/>
          <a:ln/>
        </p:spPr>
        <p:txBody>
          <a:bodyPr wrap="square" lIns="0" tIns="0" rIns="0" bIns="0" rtlCol="0" anchor="ctr">
            <a:normAutofit/>
          </a:bodyPr>
          <a:lstStyle/>
          <a:p>
            <a:pPr marL="0" indent="0">
              <a:buNone/>
            </a:pPr>
            <a:r>
              <a:rPr lang="en-US" sz="1340" dirty="0">
                <a:solidFill>
                  <a:srgbClr val="64748B"/>
                </a:solidFill>
                <a:latin typeface="Aptos" pitchFamily="34" charset="0"/>
                <a:ea typeface="Aptos" pitchFamily="34" charset="-122"/>
                <a:cs typeface="Aptos" pitchFamily="34" charset="-120"/>
              </a:rPr>
              <a:t>Sub-affiliate wording: “Ask this partner about joining their network as an approved sub-affiliate.”</a:t>
            </a:r>
            <a:endParaRPr lang="en-US" sz="1340" dirty="0"/>
          </a:p>
        </p:txBody>
      </p:sp>
      <p:sp>
        <p:nvSpPr>
          <p:cNvPr id="23" name="Text 21"/>
          <p:cNvSpPr/>
          <p:nvPr/>
        </p:nvSpPr>
        <p:spPr>
          <a:xfrm>
            <a:off x="6537960" y="4663440"/>
            <a:ext cx="4480560" cy="274320"/>
          </a:xfrm>
          <a:prstGeom prst="rect">
            <a:avLst/>
          </a:prstGeom>
          <a:noFill/>
          <a:ln/>
        </p:spPr>
        <p:txBody>
          <a:bodyPr wrap="square" lIns="0" tIns="0" rIns="0" bIns="0" rtlCol="0" anchor="ctr"/>
          <a:lstStyle/>
          <a:p>
            <a:pPr marL="0" indent="0">
              <a:buNone/>
            </a:pPr>
            <a:r>
              <a:rPr lang="en-US" sz="2100" b="1" dirty="0">
                <a:solidFill>
                  <a:srgbClr val="00A99D"/>
                </a:solidFill>
                <a:latin typeface="Aptos Display" pitchFamily="34" charset="0"/>
                <a:ea typeface="Aptos Display" pitchFamily="34" charset="-122"/>
                <a:cs typeface="Aptos Display" pitchFamily="34" charset="-120"/>
              </a:rPr>
              <a:t>ADAMftd.com/ref/[affiliate-code]</a:t>
            </a:r>
            <a:endParaRPr lang="en-US" sz="2100" dirty="0"/>
          </a:p>
        </p:txBody>
      </p:sp>
      <p:sp>
        <p:nvSpPr>
          <p:cNvPr id="24" name="Text 22"/>
          <p:cNvSpPr/>
          <p:nvPr/>
        </p:nvSpPr>
        <p:spPr>
          <a:xfrm>
            <a:off x="457200" y="6473952"/>
            <a:ext cx="5486400" cy="201168"/>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ADAMftd Affiliate Kit · ADAMftd.com</a:t>
            </a:r>
            <a:endParaRPr lang="en-US" sz="850" dirty="0"/>
          </a:p>
        </p:txBody>
      </p:sp>
      <p:sp>
        <p:nvSpPr>
          <p:cNvPr id="25" name="Text 23"/>
          <p:cNvSpPr/>
          <p:nvPr/>
        </p:nvSpPr>
        <p:spPr>
          <a:xfrm>
            <a:off x="7315200" y="6473952"/>
            <a:ext cx="4434840" cy="201168"/>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Use your full partner link/code for attribution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1586</Words>
  <Application>Microsoft Office PowerPoint</Application>
  <PresentationFormat>Widescreen</PresentationFormat>
  <Paragraphs>207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ADAMftd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ADAMftd Affiliate Sales Playbook</dc:title>
  <dc:subject>Affiliate sales playbook</dc:subject>
  <dc:creator>ADAMftd</dc:creator>
  <cp:lastModifiedBy>Giuseppe Funaro</cp:lastModifiedBy>
  <cp:revision>3</cp:revision>
  <dcterms:created xsi:type="dcterms:W3CDTF">2026-05-18T13:41:28Z</dcterms:created>
  <dcterms:modified xsi:type="dcterms:W3CDTF">2026-05-18T14:08:30Z</dcterms:modified>
</cp:coreProperties>
</file>